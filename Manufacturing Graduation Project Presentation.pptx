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95" r:id="rId4"/>
    <p:sldId id="291" r:id="rId5"/>
    <p:sldId id="293" r:id="rId6"/>
    <p:sldId id="277" r:id="rId7"/>
    <p:sldId id="257" r:id="rId8"/>
    <p:sldId id="272" r:id="rId9"/>
    <p:sldId id="278" r:id="rId10"/>
    <p:sldId id="279" r:id="rId11"/>
    <p:sldId id="274" r:id="rId12"/>
    <p:sldId id="280" r:id="rId13"/>
    <p:sldId id="281" r:id="rId14"/>
    <p:sldId id="282" r:id="rId15"/>
    <p:sldId id="283" r:id="rId16"/>
    <p:sldId id="284" r:id="rId17"/>
    <p:sldId id="290" r:id="rId18"/>
    <p:sldId id="292" r:id="rId19"/>
    <p:sldId id="289" r:id="rId20"/>
    <p:sldId id="296" r:id="rId21"/>
    <p:sldId id="287" r:id="rId22"/>
    <p:sldId id="288" r:id="rId23"/>
  </p:sldIdLst>
  <p:sldSz cx="18288000" cy="10287000"/>
  <p:notesSz cx="6858000" cy="9144000"/>
  <p:embeddedFontLst>
    <p:embeddedFont>
      <p:font typeface="Bahnschrift Light Condensed" panose="020B0502040204020203" pitchFamily="34" charset="0"/>
      <p:regular r:id="rId25"/>
    </p:embeddedFont>
    <p:embeddedFont>
      <p:font typeface="Bahnschrift SemiBold SemiConden" panose="020B0502040204020203" pitchFamily="34" charset="0"/>
      <p:bold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Nirmala UI" panose="020B0502040204020203" pitchFamily="34" charset="0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EF5"/>
    <a:srgbClr val="0F1F3D"/>
    <a:srgbClr val="666666"/>
    <a:srgbClr val="E6E6E6"/>
    <a:srgbClr val="00B4A0"/>
    <a:srgbClr val="377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4622" autoAdjust="0"/>
  </p:normalViewPr>
  <p:slideViewPr>
    <p:cSldViewPr>
      <p:cViewPr>
        <p:scale>
          <a:sx n="33" d="100"/>
          <a:sy n="33" d="100"/>
        </p:scale>
        <p:origin x="120" y="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C64D0A-4D28-4BC2-9CA4-75940027B50E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642A2-AC76-42D5-A34B-9AD61EFB4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9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642A2-AC76-42D5-A34B-9AD61EFB41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834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microsoft.com/office/2007/relationships/hdphoto" Target="../media/hdphoto1.wdp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microsoft.com/office/2007/relationships/hdphoto" Target="../media/hdphoto1.wdp"/><Relationship Id="rId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12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4.png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12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5" Type="http://schemas.openxmlformats.org/officeDocument/2006/relationships/image" Target="../media/image8.png"/><Relationship Id="rId10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microsoft.com/office/2007/relationships/hdphoto" Target="../media/hdphoto1.wdp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microsoft.com/office/2007/relationships/hdphoto" Target="../media/hdphoto1.wdp"/><Relationship Id="rId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4.png"/><Relationship Id="rId5" Type="http://schemas.openxmlformats.org/officeDocument/2006/relationships/image" Target="../media/image7.png"/><Relationship Id="rId10" Type="http://schemas.openxmlformats.org/officeDocument/2006/relationships/image" Target="../media/image33.svg"/><Relationship Id="rId4" Type="http://schemas.openxmlformats.org/officeDocument/2006/relationships/image" Target="../media/image6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microsoft.com/office/2007/relationships/hdphoto" Target="../media/hdphoto1.wdp"/><Relationship Id="rId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12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5" Type="http://schemas.openxmlformats.org/officeDocument/2006/relationships/image" Target="../media/image8.png"/><Relationship Id="rId10" Type="http://schemas.openxmlformats.org/officeDocument/2006/relationships/image" Target="../media/image35.png"/><Relationship Id="rId4" Type="http://schemas.openxmlformats.org/officeDocument/2006/relationships/image" Target="../media/image7.pn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12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36.png"/><Relationship Id="rId5" Type="http://schemas.openxmlformats.org/officeDocument/2006/relationships/image" Target="../media/image8.png"/><Relationship Id="rId10" Type="http://schemas.openxmlformats.org/officeDocument/2006/relationships/image" Target="../media/image35.png"/><Relationship Id="rId4" Type="http://schemas.openxmlformats.org/officeDocument/2006/relationships/image" Target="../media/image7.png"/><Relationship Id="rId9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microsoft.com/office/2007/relationships/hdphoto" Target="../media/hdphoto1.wdp"/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12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0" Type="http://schemas.openxmlformats.org/officeDocument/2006/relationships/image" Target="../media/image35.png"/><Relationship Id="rId4" Type="http://schemas.openxmlformats.org/officeDocument/2006/relationships/image" Target="../media/image7.png"/><Relationship Id="rId9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https://public.tableau.com/app/profile/nada.mossad/viz/GraduationProject_17791329429690/RootCausesandImpactDashboard?publish=yes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9650950" y="1028700"/>
            <a:ext cx="9241467" cy="9258300"/>
          </a:xfrm>
          <a:custGeom>
            <a:avLst/>
            <a:gdLst/>
            <a:ahLst/>
            <a:cxnLst/>
            <a:rect l="l" t="t" r="r" b="b"/>
            <a:pathLst>
              <a:path w="9241467" h="9258300">
                <a:moveTo>
                  <a:pt x="0" y="0"/>
                </a:moveTo>
                <a:lnTo>
                  <a:pt x="9241467" y="0"/>
                </a:lnTo>
                <a:lnTo>
                  <a:pt x="924146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GB"/>
          </a:p>
        </p:txBody>
      </p:sp>
      <p:grpSp>
        <p:nvGrpSpPr>
          <p:cNvPr id="53" name="Group 2">
            <a:extLst>
              <a:ext uri="{FF2B5EF4-FFF2-40B4-BE49-F238E27FC236}">
                <a16:creationId xmlns:a16="http://schemas.microsoft.com/office/drawing/2014/main" id="{9908E944-3B81-F14E-9ED9-37FA03A05A56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54" name="Freeform 3">
              <a:extLst>
                <a:ext uri="{FF2B5EF4-FFF2-40B4-BE49-F238E27FC236}">
                  <a16:creationId xmlns:a16="http://schemas.microsoft.com/office/drawing/2014/main" id="{F1D2DC9F-390D-73D6-B02A-D14CA048CB2B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TextBox 4">
              <a:extLst>
                <a:ext uri="{FF2B5EF4-FFF2-40B4-BE49-F238E27FC236}">
                  <a16:creationId xmlns:a16="http://schemas.microsoft.com/office/drawing/2014/main" id="{54BB07B5-9725-05CA-C4EF-8CF7A7715407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3" name="Group 2">
            <a:extLst>
              <a:ext uri="{FF2B5EF4-FFF2-40B4-BE49-F238E27FC236}">
                <a16:creationId xmlns:a16="http://schemas.microsoft.com/office/drawing/2014/main" id="{F23CA20B-C886-3B24-0811-CBD6C0F93B8B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74" name="Freeform 3">
              <a:extLst>
                <a:ext uri="{FF2B5EF4-FFF2-40B4-BE49-F238E27FC236}">
                  <a16:creationId xmlns:a16="http://schemas.microsoft.com/office/drawing/2014/main" id="{9F8744F5-6FAE-C7A7-77E8-695A4D957464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TextBox 4">
              <a:extLst>
                <a:ext uri="{FF2B5EF4-FFF2-40B4-BE49-F238E27FC236}">
                  <a16:creationId xmlns:a16="http://schemas.microsoft.com/office/drawing/2014/main" id="{2C3B87FD-0DB4-5D6B-D65D-32E6580FD341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73708" y="6663769"/>
            <a:ext cx="4384292" cy="264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 Bold"/>
              </a:rPr>
              <a:t>Under the Supervision of: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73708" y="7161297"/>
            <a:ext cx="3892741" cy="264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Eng. Mahmoud Emad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56305" y="5192306"/>
            <a:ext cx="749464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3200" b="1" spc="-6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An analytical review of your factory Downtime causes &amp; impact and how to optimize your manufacturing process.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56305" y="739956"/>
            <a:ext cx="6330851" cy="4231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Manufacturing</a:t>
            </a:r>
          </a:p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Downtime Analysis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934C1EE1-E714-BD32-8F69-CC32747D2A27}"/>
              </a:ext>
            </a:extLst>
          </p:cNvPr>
          <p:cNvSpPr txBox="1"/>
          <p:nvPr/>
        </p:nvSpPr>
        <p:spPr>
          <a:xfrm>
            <a:off x="2473708" y="7892306"/>
            <a:ext cx="3452778" cy="264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 Bold"/>
              </a:rPr>
              <a:t>By: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B69DC15-B5BF-0D6F-2945-E20A029C9623}"/>
              </a:ext>
            </a:extLst>
          </p:cNvPr>
          <p:cNvSpPr txBox="1"/>
          <p:nvPr/>
        </p:nvSpPr>
        <p:spPr>
          <a:xfrm>
            <a:off x="2473708" y="8209693"/>
            <a:ext cx="3452778" cy="1858714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Randa Alaa El-Din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Nada Ashraf</a:t>
            </a:r>
          </a:p>
          <a:p>
            <a:pPr algn="l">
              <a:lnSpc>
                <a:spcPct val="150000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Esraa Rashwan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25CD62-B63D-EC3D-36EF-CF21BD2A2F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0" y="3301732"/>
            <a:ext cx="4877481" cy="4877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7E8543-2300-B9EA-0DA9-4DF13EE8B31C}"/>
              </a:ext>
            </a:extLst>
          </p:cNvPr>
          <p:cNvSpPr txBox="1"/>
          <p:nvPr/>
        </p:nvSpPr>
        <p:spPr>
          <a:xfrm>
            <a:off x="6159865" y="8156353"/>
            <a:ext cx="34527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Sherif El-</a:t>
            </a:r>
            <a:r>
              <a:rPr lang="en-US" sz="2800" dirty="0" err="1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Shafey</a:t>
            </a:r>
            <a:endParaRPr lang="en-US" sz="2800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  <a:sym typeface="Poppins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Eman Talaat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Mennatullah Ahmed</a:t>
            </a:r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F60CBC-976C-BFC9-29BD-2D1BDCD200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>
            <a:extLst>
              <a:ext uri="{FF2B5EF4-FFF2-40B4-BE49-F238E27FC236}">
                <a16:creationId xmlns:a16="http://schemas.microsoft.com/office/drawing/2014/main" id="{4CF8C6F2-771F-1BB7-A6AB-CBB8B908DACC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768F9139-BF7F-0C0B-8CF9-9EFDDAD9944E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F8D77A65-C2CA-46E7-920E-87694E0A7A1B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C38C479-871C-D519-F15A-D48AD276D8A5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5322921-F399-77CE-85FC-0FDB9882E06B}"/>
              </a:ext>
            </a:extLst>
          </p:cNvPr>
          <p:cNvGrpSpPr/>
          <p:nvPr/>
        </p:nvGrpSpPr>
        <p:grpSpPr>
          <a:xfrm>
            <a:off x="125277" y="2117664"/>
            <a:ext cx="1471364" cy="7710745"/>
            <a:chOff x="125277" y="2117664"/>
            <a:chExt cx="1471364" cy="771074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9703823-ECA0-C398-072E-CC930E4A2BDC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F9929543-6B8E-B72F-4DD8-60D6D82141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C850233-25B4-6444-C1B8-8ECAEE0B28C7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3EA27CC-A27A-91AB-EAFF-1B948B62C10B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D14A23ED-4B2D-5BB8-99BE-59E7007942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BE7A73-79F1-56D6-B1F1-FAB892E4AEF5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330544A-C127-5F96-B726-81F1A3BFA996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B93BCC82-1DEC-A8CE-C3A4-706FC2648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CCCD77B-EB9C-8A9A-D585-B24679C63BCE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FF42D7C-7BBD-633D-EA95-8E841689D0E6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77464699-4DEC-5D5F-2BA4-7300975E1F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B073D02-E744-518A-EA17-CB119921233C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5B70DA8-BBC5-32F6-0685-20C48CF690A2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D030F9E6-3F2A-AB4F-493F-3CE957266B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6411B63-1C76-0F6C-E4B4-C98BDC65233E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7E764A97-E884-44CC-8FF0-38A552C6F1B1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D8FA8859-1C76-5C52-4CD9-F30584F119EF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0D38A6E1-5459-E3A5-11C8-F90D53654455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0E78B3D8-6702-262B-368E-99D3BB3F2CA8}"/>
              </a:ext>
            </a:extLst>
          </p:cNvPr>
          <p:cNvSpPr txBox="1"/>
          <p:nvPr/>
        </p:nvSpPr>
        <p:spPr>
          <a:xfrm>
            <a:off x="2556102" y="621207"/>
            <a:ext cx="6330851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15A4A38C-7526-79DF-6AFA-03BC9D4E4D8B}"/>
              </a:ext>
            </a:extLst>
          </p:cNvPr>
          <p:cNvSpPr txBox="1"/>
          <p:nvPr/>
        </p:nvSpPr>
        <p:spPr>
          <a:xfrm>
            <a:off x="2667000" y="3632502"/>
            <a:ext cx="6477000" cy="393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3600" b="1" spc="-6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Dataset</a:t>
            </a: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016F8596-D64F-E982-CAC6-3F63619F23CB}"/>
              </a:ext>
            </a:extLst>
          </p:cNvPr>
          <p:cNvSpPr/>
          <p:nvPr/>
        </p:nvSpPr>
        <p:spPr>
          <a:xfrm>
            <a:off x="18516600" y="1205140"/>
            <a:ext cx="9241467" cy="9258300"/>
          </a:xfrm>
          <a:custGeom>
            <a:avLst/>
            <a:gdLst/>
            <a:ahLst/>
            <a:cxnLst/>
            <a:rect l="l" t="t" r="r" b="b"/>
            <a:pathLst>
              <a:path w="9241467" h="9258300">
                <a:moveTo>
                  <a:pt x="0" y="0"/>
                </a:moveTo>
                <a:lnTo>
                  <a:pt x="9241467" y="0"/>
                </a:lnTo>
                <a:lnTo>
                  <a:pt x="924146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GB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34C973D-08A6-4935-039A-7D04204D452A}"/>
              </a:ext>
            </a:extLst>
          </p:cNvPr>
          <p:cNvGrpSpPr/>
          <p:nvPr/>
        </p:nvGrpSpPr>
        <p:grpSpPr>
          <a:xfrm>
            <a:off x="14292337" y="4101143"/>
            <a:ext cx="3654003" cy="2946337"/>
            <a:chOff x="12526627" y="1705845"/>
            <a:chExt cx="3654003" cy="294633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D6010B0-A08C-913F-A366-5C0CB9E363CE}"/>
                </a:ext>
              </a:extLst>
            </p:cNvPr>
            <p:cNvSpPr/>
            <p:nvPr/>
          </p:nvSpPr>
          <p:spPr>
            <a:xfrm>
              <a:off x="12526627" y="1705845"/>
              <a:ext cx="3654003" cy="2871520"/>
            </a:xfrm>
            <a:prstGeom prst="roundRect">
              <a:avLst/>
            </a:prstGeom>
            <a:noFill/>
            <a:ln w="38100">
              <a:solidFill>
                <a:srgbClr val="1E6EF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27AF03A-CE75-C60C-BC8A-0F9E924C762C}"/>
                </a:ext>
              </a:extLst>
            </p:cNvPr>
            <p:cNvSpPr txBox="1"/>
            <p:nvPr/>
          </p:nvSpPr>
          <p:spPr>
            <a:xfrm>
              <a:off x="13070926" y="2097637"/>
              <a:ext cx="2908757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Products: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Product.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Flavor.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Size.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Min Batch Time</a:t>
              </a:r>
            </a:p>
            <a:p>
              <a:endParaRPr lang="en-US" sz="3200" b="1" dirty="0">
                <a:solidFill>
                  <a:srgbClr val="0F1F3D"/>
                </a:solidFill>
                <a:latin typeface="Bahnschrift Light Condensed" panose="020B0502040204020203" pitchFamily="34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0030D8F-0B92-BF41-3038-5A7C1614F7B6}"/>
              </a:ext>
            </a:extLst>
          </p:cNvPr>
          <p:cNvGrpSpPr/>
          <p:nvPr/>
        </p:nvGrpSpPr>
        <p:grpSpPr>
          <a:xfrm>
            <a:off x="12331888" y="7138728"/>
            <a:ext cx="3654003" cy="2871520"/>
            <a:chOff x="12526627" y="1705845"/>
            <a:chExt cx="3654003" cy="2871520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BCACBBED-0DBC-056A-A10F-0721D8F856AD}"/>
                </a:ext>
              </a:extLst>
            </p:cNvPr>
            <p:cNvSpPr/>
            <p:nvPr/>
          </p:nvSpPr>
          <p:spPr>
            <a:xfrm>
              <a:off x="12526627" y="1705845"/>
              <a:ext cx="3654003" cy="2871520"/>
            </a:xfrm>
            <a:prstGeom prst="roundRect">
              <a:avLst/>
            </a:prstGeom>
            <a:noFill/>
            <a:ln w="38100">
              <a:solidFill>
                <a:srgbClr val="1E6EF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5ED1C9E-839E-F298-BB48-8244B09204C1}"/>
                </a:ext>
              </a:extLst>
            </p:cNvPr>
            <p:cNvSpPr txBox="1"/>
            <p:nvPr/>
          </p:nvSpPr>
          <p:spPr>
            <a:xfrm>
              <a:off x="12961354" y="2178219"/>
              <a:ext cx="2908757" cy="2185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Downtime Factors: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Factor.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Description.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Operator Error.</a:t>
              </a:r>
            </a:p>
            <a:p>
              <a:endParaRPr lang="en-US" sz="3200" b="1" dirty="0">
                <a:solidFill>
                  <a:srgbClr val="0F1F3D"/>
                </a:solidFill>
                <a:latin typeface="Bahnschrift Light Condensed" panose="020B0502040204020203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7B47EEB-7AB1-1E9C-AA28-412CD4A15CA0}"/>
              </a:ext>
            </a:extLst>
          </p:cNvPr>
          <p:cNvGrpSpPr/>
          <p:nvPr/>
        </p:nvGrpSpPr>
        <p:grpSpPr>
          <a:xfrm>
            <a:off x="12239668" y="1063559"/>
            <a:ext cx="3654003" cy="3383752"/>
            <a:chOff x="12526627" y="1705845"/>
            <a:chExt cx="3654003" cy="3383752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9DBE133B-1687-4AA9-13E5-7221CD3A3768}"/>
                </a:ext>
              </a:extLst>
            </p:cNvPr>
            <p:cNvSpPr/>
            <p:nvPr/>
          </p:nvSpPr>
          <p:spPr>
            <a:xfrm>
              <a:off x="12526627" y="1705845"/>
              <a:ext cx="3654003" cy="2871520"/>
            </a:xfrm>
            <a:prstGeom prst="roundRect">
              <a:avLst/>
            </a:prstGeom>
            <a:noFill/>
            <a:ln w="38100">
              <a:solidFill>
                <a:srgbClr val="1E6EF5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F05DB87-ED54-F365-8A9E-D95DB4E52A34}"/>
                </a:ext>
              </a:extLst>
            </p:cNvPr>
            <p:cNvSpPr txBox="1"/>
            <p:nvPr/>
          </p:nvSpPr>
          <p:spPr>
            <a:xfrm>
              <a:off x="13053241" y="1796388"/>
              <a:ext cx="2908757" cy="32932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Line productivity: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Date.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Product.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Batch </a:t>
              </a:r>
              <a:r>
                <a:rPr lang="en-US" sz="2400" b="1" dirty="0">
                  <a:solidFill>
                    <a:srgbClr val="1E6EF5"/>
                  </a:solidFill>
                  <a:latin typeface="Bahnschrift Light Condensed" panose="020B0502040204020203" pitchFamily="34" charset="0"/>
                </a:rPr>
                <a:t>“</a:t>
              </a: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Primary Key</a:t>
              </a:r>
              <a:r>
                <a:rPr lang="en-US" sz="2400" b="1" dirty="0">
                  <a:solidFill>
                    <a:srgbClr val="1E6EF5"/>
                  </a:solidFill>
                  <a:latin typeface="Bahnschrift Light Condensed" panose="020B0502040204020203" pitchFamily="34" charset="0"/>
                </a:rPr>
                <a:t>”</a:t>
              </a: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Operator.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Start Time 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sz="2400" b="1" dirty="0">
                  <a:solidFill>
                    <a:srgbClr val="0F1F3D"/>
                  </a:solidFill>
                  <a:latin typeface="Bahnschrift Light Condensed" panose="020B0502040204020203" pitchFamily="34" charset="0"/>
                </a:rPr>
                <a:t>End Time</a:t>
              </a:r>
            </a:p>
            <a:p>
              <a:endParaRPr lang="en-US" sz="3200" b="1" dirty="0">
                <a:solidFill>
                  <a:srgbClr val="0F1F3D"/>
                </a:solidFill>
                <a:latin typeface="Bahnschrift Light Condensed" panose="020B0502040204020203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26B07D4-42D2-5AFC-46BD-650667DC223F}"/>
              </a:ext>
            </a:extLst>
          </p:cNvPr>
          <p:cNvSpPr txBox="1"/>
          <p:nvPr/>
        </p:nvSpPr>
        <p:spPr>
          <a:xfrm>
            <a:off x="2459564" y="4335153"/>
            <a:ext cx="830176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dataset shows the operation time and downtime of a soda drinks factory through 4 days.</a:t>
            </a:r>
          </a:p>
          <a:p>
            <a:endParaRPr lang="en-US" sz="28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dataset provides data about each production batch containing: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Batch no.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Products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being processed.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Operators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working on it.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stopping event,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referred to as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event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reason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for each event, referred to as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factor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  <a:p>
            <a:endParaRPr lang="en-US" sz="28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096D08-5C62-35CE-AACA-828D4A3473F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8B65-9C18-CE0F-A0FC-74D303025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>
            <a:extLst>
              <a:ext uri="{FF2B5EF4-FFF2-40B4-BE49-F238E27FC236}">
                <a16:creationId xmlns:a16="http://schemas.microsoft.com/office/drawing/2014/main" id="{480DA4BE-DA52-3929-51C9-AAF46CFB9851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6CA3ED75-139C-C72E-E48E-C67BFBDFF995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5FBDA178-90ED-7A82-CB29-C708C8C7F4F8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0CB88B30-5867-3CAD-0360-BC0945ED6AF1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2C819AB-2717-F3D0-0996-1A56804D5753}"/>
              </a:ext>
            </a:extLst>
          </p:cNvPr>
          <p:cNvGrpSpPr/>
          <p:nvPr/>
        </p:nvGrpSpPr>
        <p:grpSpPr>
          <a:xfrm>
            <a:off x="125277" y="2117664"/>
            <a:ext cx="1471364" cy="7710745"/>
            <a:chOff x="125277" y="2117664"/>
            <a:chExt cx="1471364" cy="771074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3B90EB7-5DA0-2DA4-BD96-BA777505BAB3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2EB92992-3979-0024-BE53-7BDBA07B42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0118FB3-072B-6BCE-9D40-481F9ECC04DB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9B8393-9922-3F06-6D12-76A29B1141F1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2C09A42B-AB27-75BB-ED8D-552CFBB99D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7AEEFA7-5CAE-ABB2-037B-84D7DC6796F4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E6891E0-5C21-DDB9-F9A2-5EB3D8987FD7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491E8A9-8B2B-54DE-62C5-D936AFE593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72EF0EA-A971-F06B-A70E-E645452578FE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74D3B41-D0B1-50C8-02DC-AF74F3519C09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BEA2D98-EE6F-1282-04E0-4A216E75C8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900AF4-0413-1ED8-BA4C-FD6626C3AA8D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304916D-1FE4-F70B-601E-BCD0A7156275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B9F1C3EE-7F68-936C-0C15-31FDF80B8E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2A8CAE8-FC2F-83CD-4DD7-2A4974B9001B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97EE80C7-77FF-7421-057A-53D4DF5D7B97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F5D96DC4-76BB-8D28-29D3-E58ACEF21723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170B19E5-278D-4456-5996-1B0D4C610B67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A1565DF9-E5B0-5AA4-13DE-CB6931C5AD14}"/>
              </a:ext>
            </a:extLst>
          </p:cNvPr>
          <p:cNvSpPr txBox="1"/>
          <p:nvPr/>
        </p:nvSpPr>
        <p:spPr>
          <a:xfrm>
            <a:off x="2556102" y="621207"/>
            <a:ext cx="6330851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4125AEE0-5F49-009E-90C5-D353C93F21AF}"/>
              </a:ext>
            </a:extLst>
          </p:cNvPr>
          <p:cNvSpPr txBox="1"/>
          <p:nvPr/>
        </p:nvSpPr>
        <p:spPr>
          <a:xfrm>
            <a:off x="2667000" y="3632502"/>
            <a:ext cx="6477000" cy="393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3600" b="1" spc="-6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Dataset</a:t>
            </a: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17716A25-2FC6-6E72-FC18-C356B1769658}"/>
              </a:ext>
            </a:extLst>
          </p:cNvPr>
          <p:cNvSpPr/>
          <p:nvPr/>
        </p:nvSpPr>
        <p:spPr>
          <a:xfrm>
            <a:off x="18516600" y="1205140"/>
            <a:ext cx="9241467" cy="9258300"/>
          </a:xfrm>
          <a:custGeom>
            <a:avLst/>
            <a:gdLst/>
            <a:ahLst/>
            <a:cxnLst/>
            <a:rect l="l" t="t" r="r" b="b"/>
            <a:pathLst>
              <a:path w="9241467" h="9258300">
                <a:moveTo>
                  <a:pt x="0" y="0"/>
                </a:moveTo>
                <a:lnTo>
                  <a:pt x="9241467" y="0"/>
                </a:lnTo>
                <a:lnTo>
                  <a:pt x="924146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43D70-032D-0436-AB61-2F272FBBBF79}"/>
              </a:ext>
            </a:extLst>
          </p:cNvPr>
          <p:cNvSpPr txBox="1"/>
          <p:nvPr/>
        </p:nvSpPr>
        <p:spPr>
          <a:xfrm>
            <a:off x="13184585" y="2847117"/>
            <a:ext cx="29087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F1F3D"/>
                </a:solidFill>
                <a:latin typeface="Bahnschrift Light Condensed" panose="020B0502040204020203" pitchFamily="34" charset="0"/>
              </a:rPr>
              <a:t>Line Downtime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0DE789-DC0D-8B88-3159-9FD33C63EF4D}"/>
              </a:ext>
            </a:extLst>
          </p:cNvPr>
          <p:cNvSpPr txBox="1"/>
          <p:nvPr/>
        </p:nvSpPr>
        <p:spPr>
          <a:xfrm>
            <a:off x="2459564" y="4335153"/>
            <a:ext cx="830176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dataset shows the operation time and downtime of a soda drinks factory through 4 days.</a:t>
            </a:r>
          </a:p>
          <a:p>
            <a:endParaRPr lang="en-US" sz="28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dataset provides data about each production batch containing: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Batch no.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Products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being processed.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Operators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working on it.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stopping event,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referred to as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event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reason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for each event, referred to as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factor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  <a:p>
            <a:endParaRPr lang="en-US" sz="28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15F3CD-0537-2B66-4A48-4D8E7F437FB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148"/>
          <a:stretch>
            <a:fillRect/>
          </a:stretch>
        </p:blipFill>
        <p:spPr>
          <a:xfrm>
            <a:off x="10266108" y="3431892"/>
            <a:ext cx="7726109" cy="63965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66FB9E-90A9-83FE-7E45-8B7DACED72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61932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0212-FDB0-19AA-276B-FF3A5301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>
            <a:extLst>
              <a:ext uri="{FF2B5EF4-FFF2-40B4-BE49-F238E27FC236}">
                <a16:creationId xmlns:a16="http://schemas.microsoft.com/office/drawing/2014/main" id="{6F24B5C7-B904-4062-7EB4-4DA1B9A54F0C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91B8E9BF-9930-D97C-FB94-DA85E66FFF49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CA0BF155-76C1-ACC4-D47E-BDBF98600CDF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A008988-0251-5DA2-4892-7EFF35EA863E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105DCA1-B71B-8A9C-2A41-AC2D61087742}"/>
              </a:ext>
            </a:extLst>
          </p:cNvPr>
          <p:cNvGrpSpPr/>
          <p:nvPr/>
        </p:nvGrpSpPr>
        <p:grpSpPr>
          <a:xfrm>
            <a:off x="125277" y="2117664"/>
            <a:ext cx="1471364" cy="7710745"/>
            <a:chOff x="125277" y="2117664"/>
            <a:chExt cx="1471364" cy="771074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0DAA744-F8EA-1BC7-EEAB-3277B322EB78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8A1138A7-234F-7A56-18A6-AC70ACAC0C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12C4535-7F52-9332-4F5D-DBABDDD9B840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DACF11-D7FF-05F7-87C7-B34E49598DB9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A8E88BFA-D894-0073-FD3A-2149E51589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E901746-8CE3-DB79-C9E5-5BC3A9907C77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FB84987-EC2C-E27D-5BE8-9AC52E684703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DFB91590-43F9-C222-E480-12804B97D7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4E8F0F4-4E5B-0F92-43CA-18ECE2E6FA0A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45DA0E0-7740-F8CA-FE9A-A8C99921B07A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42AA1039-E0FA-6FD9-A15F-6C02474E9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663BFBA-DF41-A3E1-FA10-C02CBF24C610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A8198F9-4F71-88BC-7077-3C888EA75F2A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43E49336-3D84-838C-FBF6-2E7ABA7BE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2C74317-4A67-5027-354F-A65874C8DCEB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076F4300-7342-EF6D-5F91-D256772E3B30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663C9267-6F0B-58E3-7887-0E126381BAC5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4B05A40E-29EC-2FB1-C979-B1F4C0D0799F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FD66D1A4-C149-A4EA-8886-6F9B8C47EE10}"/>
              </a:ext>
            </a:extLst>
          </p:cNvPr>
          <p:cNvSpPr txBox="1"/>
          <p:nvPr/>
        </p:nvSpPr>
        <p:spPr>
          <a:xfrm>
            <a:off x="2556102" y="621207"/>
            <a:ext cx="6330851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A5F9DA9C-F336-62AD-57E7-E38CAA32CC98}"/>
              </a:ext>
            </a:extLst>
          </p:cNvPr>
          <p:cNvSpPr txBox="1"/>
          <p:nvPr/>
        </p:nvSpPr>
        <p:spPr>
          <a:xfrm>
            <a:off x="2667000" y="3632502"/>
            <a:ext cx="6477000" cy="404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3600" b="1" spc="-6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Standard industry metrics.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1B6F6F-25D3-9DF7-F25A-0A3FE9A04B96}"/>
              </a:ext>
            </a:extLst>
          </p:cNvPr>
          <p:cNvSpPr txBox="1"/>
          <p:nvPr/>
        </p:nvSpPr>
        <p:spPr>
          <a:xfrm>
            <a:off x="2556101" y="4404555"/>
            <a:ext cx="804471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According to Soda industry OEE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Overall Equipment Effectiveness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we have 4 main critical metrics:</a:t>
            </a:r>
          </a:p>
          <a:p>
            <a:endParaRPr lang="en-US" sz="28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Availability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of the machines.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Downtime Rate: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percentage of time a system is unavailable or non-operational.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MTTR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Mean Time To Repair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):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average time to recover from a failure. Lower is better.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MTBF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Mean Time Between Failures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):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28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average time between failures. Higher is better.</a:t>
            </a:r>
          </a:p>
          <a:p>
            <a:endParaRPr lang="en-US" sz="3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F4DAFD-ACE5-C62C-3304-DE08C4C435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E74548F-3D1F-DF08-A4A2-0BDB66D205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2218" y="3314942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00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9E14E-B3A7-DBB3-8DD4-E8E47125E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>
            <a:extLst>
              <a:ext uri="{FF2B5EF4-FFF2-40B4-BE49-F238E27FC236}">
                <a16:creationId xmlns:a16="http://schemas.microsoft.com/office/drawing/2014/main" id="{0D8BDA7B-036B-F895-1647-3177E2F55F19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2EA2D3F6-D35E-9A2B-717A-3FE91DD09798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2D9F69A7-5417-A9B3-26F3-1A41FECD5214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814643BC-5D1E-181E-53D9-72A41A75A3A8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A8FC4E-1A2D-9E97-9227-1FA4DFB26203}"/>
              </a:ext>
            </a:extLst>
          </p:cNvPr>
          <p:cNvGrpSpPr/>
          <p:nvPr/>
        </p:nvGrpSpPr>
        <p:grpSpPr>
          <a:xfrm>
            <a:off x="125277" y="2117664"/>
            <a:ext cx="1471364" cy="7710745"/>
            <a:chOff x="125277" y="2117664"/>
            <a:chExt cx="1471364" cy="771074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06DB190-CBE6-754B-942E-86978B90E060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8EC23330-4D35-E4D4-E028-02E65FC7D1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9547652-9E13-B8BC-8271-110C0A727EF4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84E4A31-0053-095F-E6AF-21E22098BE71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C67C44B6-902D-6793-C48F-393572221C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D7A952-9E51-0F23-B2A5-1C7B0E86A08D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FC1C125-E917-7AFD-22F0-EF2F6930BFC0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8EBDBCAE-0E99-007A-D860-1EDD1B0196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B6F3912-2A16-03F0-BAE7-D9D4CB47B23B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F4A1160-271E-3465-4E11-8DFF2BB935E9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A958547F-2084-0BBB-E695-CDCFEDF712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99657A-5E2E-88EE-6AA3-36FDB855E1F9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9554F2B-2F72-1CC9-19F9-04703F3F2B01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4E3A517B-B6E3-BC45-8215-C1187D361D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C2B1E13-1F62-A122-3F8E-1EA35A99810F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5E9E0D04-10F9-985A-C66D-1BC9E7BDE804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2575CA6D-CDFB-F3B1-E977-CE215FA2DA75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1389BB2E-214D-4B0C-34D9-B8A7E83D7570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E234E8D0-7376-C07D-9D66-B7CB5CF8280F}"/>
              </a:ext>
            </a:extLst>
          </p:cNvPr>
          <p:cNvSpPr txBox="1"/>
          <p:nvPr/>
        </p:nvSpPr>
        <p:spPr>
          <a:xfrm>
            <a:off x="2556102" y="621207"/>
            <a:ext cx="6330851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36250891-5CED-8BB2-50B5-CE0086E9866E}"/>
              </a:ext>
            </a:extLst>
          </p:cNvPr>
          <p:cNvSpPr txBox="1"/>
          <p:nvPr/>
        </p:nvSpPr>
        <p:spPr>
          <a:xfrm>
            <a:off x="2667000" y="3632502"/>
            <a:ext cx="6477000" cy="393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969"/>
              </a:lnSpc>
            </a:pPr>
            <a:r>
              <a:rPr lang="en-US" sz="3600" b="1" spc="-6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Fieldes Created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842558-551C-01BA-4BFB-8247122997AD}"/>
              </a:ext>
            </a:extLst>
          </p:cNvPr>
          <p:cNvSpPr txBox="1"/>
          <p:nvPr/>
        </p:nvSpPr>
        <p:spPr>
          <a:xfrm>
            <a:off x="2556102" y="4404555"/>
            <a:ext cx="830176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dataset needed further adjustments before work: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Manufacturing Time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min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  <a:p>
            <a:endParaRPr lang="en-US" sz="28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Calculated fields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most significant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MTBF.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MTTR.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Total Impact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Equation scoring the total impact of each factor on Production considering both the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No. of Events 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&amp; </a:t>
            </a:r>
            <a:r>
              <a:rPr lang="en-US" sz="28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Total Downtime</a:t>
            </a:r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3F4C74-8978-D051-2365-872747B314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122D9E7-07A5-C9A1-F789-D63103D0CE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1583466" y="2183553"/>
            <a:ext cx="4079671" cy="1806712"/>
          </a:xfrm>
          <a:prstGeom prst="roundRect">
            <a:avLst>
              <a:gd name="adj" fmla="val 16667"/>
            </a:avLst>
          </a:prstGeom>
          <a:ln w="9525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AD9DFE-09C8-30AB-937E-EB593DAD41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3459148" y="4058262"/>
            <a:ext cx="4354131" cy="1776028"/>
          </a:xfrm>
          <a:prstGeom prst="roundRect">
            <a:avLst>
              <a:gd name="adj" fmla="val 16667"/>
            </a:avLst>
          </a:prstGeom>
          <a:ln w="9525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3D8F93-03AE-42E5-2E82-8692703571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1583466" y="5919225"/>
            <a:ext cx="4172804" cy="1727945"/>
          </a:xfrm>
          <a:prstGeom prst="roundRect">
            <a:avLst>
              <a:gd name="adj" fmla="val 16667"/>
            </a:avLst>
          </a:prstGeom>
          <a:ln w="9525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484A7F-3841-F6AF-BA95-6371AECC07B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13537591" y="7705081"/>
            <a:ext cx="4029733" cy="1786768"/>
          </a:xfrm>
          <a:prstGeom prst="roundRect">
            <a:avLst>
              <a:gd name="adj" fmla="val 16667"/>
            </a:avLst>
          </a:prstGeom>
          <a:ln w="9525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BE45CD-A57B-02FF-153D-53C2E57F94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3400" y="3178843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8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11DB7-9F1B-C83B-DD43-B8B301168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>
            <a:extLst>
              <a:ext uri="{FF2B5EF4-FFF2-40B4-BE49-F238E27FC236}">
                <a16:creationId xmlns:a16="http://schemas.microsoft.com/office/drawing/2014/main" id="{BFA2F28D-6CDD-D436-B3DF-5B25C87F6E3F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772379CE-5F5B-A720-5356-F533332BA14B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1107C8B7-D3EB-AE6E-E89B-E84BFC9B78D1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85F5EF8E-F314-41B3-40D3-C65AF66D2C2C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E76FAF6-237B-A1AC-6ED2-9571F79F607B}"/>
              </a:ext>
            </a:extLst>
          </p:cNvPr>
          <p:cNvGrpSpPr/>
          <p:nvPr/>
        </p:nvGrpSpPr>
        <p:grpSpPr>
          <a:xfrm>
            <a:off x="125277" y="2117664"/>
            <a:ext cx="1471364" cy="7710745"/>
            <a:chOff x="125277" y="2117664"/>
            <a:chExt cx="1471364" cy="771074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EDA9CE8-F542-7855-D063-4BDB78008B93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7D618AD2-534C-21F2-D4B1-6AD87E5AF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41B274-13E5-78CC-D2B4-F4B1E62266E4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A1C957E-19CC-3517-F452-AADBED33C8F8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FE6E2FF3-9D0E-1AC7-4360-210B95BFEF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D36AA86-DFF3-7813-B005-E340D0F2E3C2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9C0FCE9-9780-D772-8126-24DB5F87BAF3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7D665166-788A-8081-4DCA-4EFD886985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6F3D0B6-549F-710C-23CD-BD0F37948F55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FA922872-B9C6-2720-6877-C0AFABE7B44B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E6689193-B493-7581-A97E-48E3F67C04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4FD9EED-EA23-C5CC-3E18-62E383A773A5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78D72F3-0BE9-1754-A8CA-A029E97514BF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816DA5B9-2C81-23D5-8C5C-2859CB719F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763433-B985-4C68-0862-6118CA8E3B10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059D5B15-C444-FA83-5F8B-3B247BC2220B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8" name="Freeform 3">
              <a:extLst>
                <a:ext uri="{FF2B5EF4-FFF2-40B4-BE49-F238E27FC236}">
                  <a16:creationId xmlns:a16="http://schemas.microsoft.com/office/drawing/2014/main" id="{2A31E9D9-F56F-CA6D-276E-01CDBAE4CF80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TextBox 4">
              <a:extLst>
                <a:ext uri="{FF2B5EF4-FFF2-40B4-BE49-F238E27FC236}">
                  <a16:creationId xmlns:a16="http://schemas.microsoft.com/office/drawing/2014/main" id="{BE822318-CF27-2E52-10E8-DA404D1DDCB6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18">
            <a:extLst>
              <a:ext uri="{FF2B5EF4-FFF2-40B4-BE49-F238E27FC236}">
                <a16:creationId xmlns:a16="http://schemas.microsoft.com/office/drawing/2014/main" id="{9E923042-D979-9C09-2702-92650B4F22DD}"/>
              </a:ext>
            </a:extLst>
          </p:cNvPr>
          <p:cNvSpPr txBox="1"/>
          <p:nvPr/>
        </p:nvSpPr>
        <p:spPr>
          <a:xfrm>
            <a:off x="2556102" y="621207"/>
            <a:ext cx="6330851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Project Overview</a:t>
            </a:r>
          </a:p>
        </p:txBody>
      </p:sp>
      <p:sp>
        <p:nvSpPr>
          <p:cNvPr id="55" name="Freeform 14">
            <a:extLst>
              <a:ext uri="{FF2B5EF4-FFF2-40B4-BE49-F238E27FC236}">
                <a16:creationId xmlns:a16="http://schemas.microsoft.com/office/drawing/2014/main" id="{2AA064C6-1E4F-7377-6C22-18FAEE358FA6}"/>
              </a:ext>
            </a:extLst>
          </p:cNvPr>
          <p:cNvSpPr/>
          <p:nvPr/>
        </p:nvSpPr>
        <p:spPr>
          <a:xfrm>
            <a:off x="18616698" y="2038075"/>
            <a:ext cx="6051187" cy="7157317"/>
          </a:xfrm>
          <a:custGeom>
            <a:avLst/>
            <a:gdLst/>
            <a:ahLst/>
            <a:cxnLst/>
            <a:rect l="l" t="t" r="r" b="b"/>
            <a:pathLst>
              <a:path w="6051187" h="7157317">
                <a:moveTo>
                  <a:pt x="0" y="0"/>
                </a:moveTo>
                <a:lnTo>
                  <a:pt x="6051186" y="0"/>
                </a:lnTo>
                <a:lnTo>
                  <a:pt x="6051186" y="7157317"/>
                </a:lnTo>
                <a:lnTo>
                  <a:pt x="0" y="7157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4C5B5-A946-96E7-638F-1F5E5BEBB3B4}"/>
              </a:ext>
            </a:extLst>
          </p:cNvPr>
          <p:cNvSpPr txBox="1"/>
          <p:nvPr/>
        </p:nvSpPr>
        <p:spPr>
          <a:xfrm>
            <a:off x="2519174" y="3523827"/>
            <a:ext cx="55580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6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  <a:sym typeface="Poppins"/>
              </a:rPr>
              <a:t>How much are operators contributing to the problem?</a:t>
            </a:r>
          </a:p>
          <a:p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591F5-E847-1700-81BF-9940C1D5D9B7}"/>
              </a:ext>
            </a:extLst>
          </p:cNvPr>
          <p:cNvSpPr txBox="1"/>
          <p:nvPr/>
        </p:nvSpPr>
        <p:spPr>
          <a:xfrm>
            <a:off x="2503934" y="5765960"/>
            <a:ext cx="5395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data obviously shows that the errors are mainly driven by operators.</a:t>
            </a:r>
            <a:endParaRPr lang="en-US" sz="2800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endParaRPr lang="en-US" sz="24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ABAB39-88A6-CBE7-DFC3-4051807F30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3400" y="3178843"/>
            <a:ext cx="4877481" cy="48774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50FFAA-AEDC-ECE7-8378-927420DDCD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754" y="3556848"/>
            <a:ext cx="9988099" cy="4119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D05E3C-EBEA-25B6-18A0-65092740B7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01387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992447F4-F4C9-0B4C-0984-71A9CF992629}"/>
              </a:ext>
            </a:extLst>
          </p:cNvPr>
          <p:cNvSpPr txBox="1"/>
          <p:nvPr/>
        </p:nvSpPr>
        <p:spPr>
          <a:xfrm>
            <a:off x="1356036" y="3732857"/>
            <a:ext cx="7787964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C7D04F10-03CA-1E4E-04AB-60876F2FB3BC}"/>
              </a:ext>
            </a:extLst>
          </p:cNvPr>
          <p:cNvGrpSpPr/>
          <p:nvPr/>
        </p:nvGrpSpPr>
        <p:grpSpPr>
          <a:xfrm>
            <a:off x="-205740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CACE95FF-5F78-80A5-336C-2826CEEA5422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202D7910-A40E-C21A-7C6E-5B425EC0ACAA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196CFD-A106-3447-84B6-A9ACA4057EA6}"/>
              </a:ext>
            </a:extLst>
          </p:cNvPr>
          <p:cNvGrpSpPr/>
          <p:nvPr/>
        </p:nvGrpSpPr>
        <p:grpSpPr>
          <a:xfrm>
            <a:off x="-1932123" y="2117664"/>
            <a:ext cx="1471364" cy="7710745"/>
            <a:chOff x="125277" y="2117664"/>
            <a:chExt cx="1471364" cy="771074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9D0E46B-2167-C87E-8B60-191AB22081FB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EE4AAE68-34E4-9A65-F902-6B038D067F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C01C7C4-5904-8CDA-2330-822A8B7EFE57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238649A-EAE6-DDEA-F8BE-CE1D0F9C9EA8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656E56C7-DAAE-D8F4-42C4-52A7269C9D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B7B4FB-7566-4E1B-A7F6-CDD6BB2B5F42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F0D7971-C8F2-CEF9-1416-6B432BEC97BF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FC7420A3-9740-FBED-B886-D609BDC0A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8B15C98-789B-306E-5A5A-A36D403D05B5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415E582-19D3-F72D-8BDC-BE2873B46735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09D1DEC2-D4B5-4C40-5CC5-AE104ADCE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C4CFC2F-0534-A134-29ED-3CC1BDD410A9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1FE4256-B151-7D7E-8BA3-CF435794112D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03F9DC9-1F5A-3BAF-9CC6-F4D0705AF6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7DAF448-F348-D1C0-C12D-4D3F4B539CF5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41" name="Group 2">
            <a:extLst>
              <a:ext uri="{FF2B5EF4-FFF2-40B4-BE49-F238E27FC236}">
                <a16:creationId xmlns:a16="http://schemas.microsoft.com/office/drawing/2014/main" id="{EC171CCE-6C01-5CF8-7E53-7626C36BCC29}"/>
              </a:ext>
            </a:extLst>
          </p:cNvPr>
          <p:cNvGrpSpPr/>
          <p:nvPr/>
        </p:nvGrpSpPr>
        <p:grpSpPr>
          <a:xfrm>
            <a:off x="-20684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27A40218-76DD-7171-0AB5-31A3638755E8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TextBox 4">
              <a:extLst>
                <a:ext uri="{FF2B5EF4-FFF2-40B4-BE49-F238E27FC236}">
                  <a16:creationId xmlns:a16="http://schemas.microsoft.com/office/drawing/2014/main" id="{F847B576-934C-544B-55D8-2CA40AB91A9C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71C595AE-B75B-4113-B893-03C71A50567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5342" y="621207"/>
            <a:ext cx="588787" cy="588787"/>
          </a:xfrm>
          <a:prstGeom prst="rect">
            <a:avLst/>
          </a:prstGeom>
          <a:noFill/>
        </p:spPr>
      </p:pic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CBD7227-AC17-B190-F15D-52FC531C1D1A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 14">
            <a:extLst>
              <a:ext uri="{FF2B5EF4-FFF2-40B4-BE49-F238E27FC236}">
                <a16:creationId xmlns:a16="http://schemas.microsoft.com/office/drawing/2014/main" id="{CD7074F4-75BD-6E13-B81B-271FAD16FD45}"/>
              </a:ext>
            </a:extLst>
          </p:cNvPr>
          <p:cNvSpPr/>
          <p:nvPr/>
        </p:nvSpPr>
        <p:spPr>
          <a:xfrm>
            <a:off x="10174029" y="2100983"/>
            <a:ext cx="6051187" cy="7157317"/>
          </a:xfrm>
          <a:custGeom>
            <a:avLst/>
            <a:gdLst/>
            <a:ahLst/>
            <a:cxnLst/>
            <a:rect l="l" t="t" r="r" b="b"/>
            <a:pathLst>
              <a:path w="6051187" h="7157317">
                <a:moveTo>
                  <a:pt x="0" y="0"/>
                </a:moveTo>
                <a:lnTo>
                  <a:pt x="6051186" y="0"/>
                </a:lnTo>
                <a:lnTo>
                  <a:pt x="6051186" y="7157317"/>
                </a:lnTo>
                <a:lnTo>
                  <a:pt x="0" y="71573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55310-E67A-22BA-516F-40A26A85C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43DFE2-7CD9-90A5-2BA4-3591F8C779C1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A78190-D9DB-BD4E-A4DF-724513D91212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55214B4-7A4D-0E75-4AF6-D465D76E9432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ACDA939A-D17E-8D70-A3FF-04EC6A8B8484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F3B6837-CE94-4798-6AC7-775862B637A8}"/>
              </a:ext>
            </a:extLst>
          </p:cNvPr>
          <p:cNvGrpSpPr/>
          <p:nvPr/>
        </p:nvGrpSpPr>
        <p:grpSpPr>
          <a:xfrm>
            <a:off x="82538" y="327778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688E50A-FBAB-3EA0-0D63-A3DE7C456027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C502602-79AB-F1B2-DA91-12B2FB05FB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0BE8C5-2FD1-0352-2BAE-D882B9A96F2B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EB7492E-9B33-C8FA-66C3-8CD3A5639EF0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D2CB5E40-3118-824F-4A89-B27B6B8A43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8A895C2-AE79-3792-D63B-A93370EC38AB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31498D5-9DDA-DCA5-E017-F779ECFDDAEE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D5A71C9D-2D62-F03C-F002-168FDDB48A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E73640-5E76-2BD7-F12B-D28937E6A70E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7C55ADE-2959-83D2-1452-AB9A044F1361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60AD7A52-05A6-97D6-70DF-A37FF822BD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73F96E-7993-5A7E-CF37-9351394E4C80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61EAB31-A43F-9383-607D-5C229212FD1C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CF184FBA-9470-3A32-38AE-A29A7509FD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44A30DF-1A82-F7CE-5F79-A89C805938F7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EDA5E5BE-4296-D95E-679C-C7F20F1717D3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7C8D560D-92F1-A42C-61E0-535A18E243F4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EDD59B4F-B8E7-DF33-B94C-E4FF5D01EE06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14">
            <a:extLst>
              <a:ext uri="{FF2B5EF4-FFF2-40B4-BE49-F238E27FC236}">
                <a16:creationId xmlns:a16="http://schemas.microsoft.com/office/drawing/2014/main" id="{F48D9D77-306C-CCCC-1851-61B4D9D4F42C}"/>
              </a:ext>
            </a:extLst>
          </p:cNvPr>
          <p:cNvSpPr/>
          <p:nvPr/>
        </p:nvSpPr>
        <p:spPr>
          <a:xfrm>
            <a:off x="18616698" y="2038075"/>
            <a:ext cx="6051187" cy="7157317"/>
          </a:xfrm>
          <a:custGeom>
            <a:avLst/>
            <a:gdLst/>
            <a:ahLst/>
            <a:cxnLst/>
            <a:rect l="l" t="t" r="r" b="b"/>
            <a:pathLst>
              <a:path w="6051187" h="7157317">
                <a:moveTo>
                  <a:pt x="0" y="0"/>
                </a:moveTo>
                <a:lnTo>
                  <a:pt x="6051186" y="0"/>
                </a:lnTo>
                <a:lnTo>
                  <a:pt x="6051186" y="7157317"/>
                </a:lnTo>
                <a:lnTo>
                  <a:pt x="0" y="7157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A11F8583-9322-4723-C50B-0DD236E36110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EFD752B5-D94D-5939-2143-EEF515C35A52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Products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AD73EA-3AB7-3213-3CD2-F42491C52CD8}"/>
              </a:ext>
            </a:extLst>
          </p:cNvPr>
          <p:cNvSpPr txBox="1"/>
          <p:nvPr/>
        </p:nvSpPr>
        <p:spPr>
          <a:xfrm>
            <a:off x="2189677" y="3566378"/>
            <a:ext cx="14787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Product with highest Downtime Rate and Average Downtime is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OR-600.</a:t>
            </a:r>
          </a:p>
          <a:p>
            <a:endParaRPr lang="en-US" sz="3600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08C96D-4058-5FCD-E42C-E5AB917B63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911" y="4859642"/>
            <a:ext cx="9134592" cy="4780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246D9F-2921-A301-78CE-53D738E750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572" y="7475184"/>
            <a:ext cx="4631446" cy="2294281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1B9D4F-6DA0-6DAF-EB48-113AF377BB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572" y="5009630"/>
            <a:ext cx="4683621" cy="2256181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08E35C-B19D-97EA-19FB-419C40BB9F2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78234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A25A3-135D-C888-6632-F95DCDEC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D90DEF-6206-BC3F-9036-006B42B57CCC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0B968A9-21D4-647E-775C-06E2DF36531A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DCD05D1-3596-0F51-F6A1-234A2A23FFCE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7753E8E6-8226-379E-6752-86E33E5A83E5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0D8D00-2A85-662F-33C3-D21BE3694DA2}"/>
              </a:ext>
            </a:extLst>
          </p:cNvPr>
          <p:cNvGrpSpPr/>
          <p:nvPr/>
        </p:nvGrpSpPr>
        <p:grpSpPr>
          <a:xfrm>
            <a:off x="82538" y="327778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50D18C0-F267-AFF9-CA6C-9FFD0A3253AB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7A87D0B-4E7E-9C67-4437-7B4051EEB9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F01A66-CB61-CF91-491E-4F0B68F21688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6360A6C-9668-C3B6-9FA8-463E17207AE4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313ADF5-8C44-FF4F-528C-ADF13A378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78508C5-8538-B64F-4E83-104BB4640D66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80931E9-3775-6A3D-487F-96B28F5DFB8F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74521B0-BDA1-3B29-3847-3C9CE43AAF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0FCFAF4-415A-5555-3620-579F8ED0E7BB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EF71D95-ECE6-2167-B955-274EE70F6DD5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08B90818-B943-5101-5676-42F08BA7B7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9D89C3-D257-14F8-2218-564C2DCC4820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114BCA1-32A7-BE90-F913-48182142E2E9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2821ACE-6D7A-B181-F415-02B6C12AD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6E99769-CB39-F5A3-7D9C-B0E3A868DB05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7A970FDA-7BEB-8739-40B6-A193647983FC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C8BFE078-4303-C9D7-C65E-A3ADA9B383DA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0830BC53-07B4-899E-861B-2BF361AFC65D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6DA2D562-EAC0-F8D7-2409-A6E17099CB8F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6586351B-4F3A-F497-58C1-BA7BE1C8B6B0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Product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8A047D-568C-AD9C-5BDF-9E1E5B1D0D2E}"/>
              </a:ext>
            </a:extLst>
          </p:cNvPr>
          <p:cNvSpPr txBox="1"/>
          <p:nvPr/>
        </p:nvSpPr>
        <p:spPr>
          <a:xfrm>
            <a:off x="2166230" y="3215077"/>
            <a:ext cx="148193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While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CO-600 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has the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most Total Downtime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having about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7 times 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operational cost more than the 2L size of the same product.</a:t>
            </a:r>
          </a:p>
          <a:p>
            <a:endParaRPr lang="en-US" sz="3600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C8829-8159-8D85-A1D8-AA24264F76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0601" y="4656008"/>
            <a:ext cx="6376906" cy="5408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B645D5-5121-8228-F4CA-1985A5B32A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298" y="4656008"/>
            <a:ext cx="9699503" cy="49529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14B3FF-7462-37D3-6F6F-585263FE77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62809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525D-C666-2EA9-6D2F-ABA49FA40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D1234B-0CB1-EAC1-9166-86C883A5096B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B9D8F6-7F72-C9C5-C527-771AC6848A11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C6CA5C8-6200-DF6B-33B2-596799F2C75D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96FF10F4-1F6E-B7DE-6BE9-63902E0AF4A2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C98AAF-DACC-436F-E768-0A8515624946}"/>
              </a:ext>
            </a:extLst>
          </p:cNvPr>
          <p:cNvGrpSpPr/>
          <p:nvPr/>
        </p:nvGrpSpPr>
        <p:grpSpPr>
          <a:xfrm>
            <a:off x="82538" y="327778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58FE3E1-99FF-3121-27E6-6A03BE12CB73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1276BE5E-D4B8-DEE6-646F-E912795F5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EB4526F-3A6E-210A-F2A0-500C2C1D65D5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575CB85-987F-C169-D37A-CE3B589625FC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5C6AD42B-DE94-80CA-9A5B-5C7485CF3F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0B93E1E-4B56-930C-BB31-FFAF42368305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FBCBE0F-3B5F-7CC4-D76C-6978A3E4C56C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4A8C9967-A7F3-A4C7-2E2A-91476BAACA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F3863-5205-30E0-956A-EC09EFDEDC5E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22A87EA-77AE-B8BB-4DFF-B9C039006BF0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04F25111-8E04-584F-5543-651BDAE178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45FE4B-C497-330E-D323-A5813EADF269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DEF2485-5ABF-C954-E18B-D434672060D7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323C5F8-1C16-5563-C889-1BAEC73FE8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CF692BA-4E38-55EC-55E9-E0533E6487E5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C9E58406-A2D6-F6FB-8096-C01204BF7198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F3A15375-F644-CF5D-BF77-4A04C7009325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93028800-921E-B359-9D91-4D84523CABE5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E7F5CC13-A318-C578-5924-9B8383A2E447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0964AC92-1E8D-5C48-7C22-E3EF02F22FFD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Product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B9283C-3361-2CFC-6564-7F9764ED8823}"/>
              </a:ext>
            </a:extLst>
          </p:cNvPr>
          <p:cNvSpPr txBox="1"/>
          <p:nvPr/>
        </p:nvSpPr>
        <p:spPr>
          <a:xfrm>
            <a:off x="2166230" y="3215077"/>
            <a:ext cx="15096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And that is due to its exposure to almost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ALL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types of Downtime Factors.</a:t>
            </a:r>
          </a:p>
          <a:p>
            <a:endParaRPr lang="en-US" sz="3600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174003-CA2F-DC3C-2F24-857B4E72B9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5" y="4656008"/>
            <a:ext cx="16524316" cy="39463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DB6E5-4485-C413-A50A-2CFA3CD76D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10889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1E0B-7D54-5158-BF40-FF72A40CE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09A079-27FD-2465-19A9-86E8F77C33BE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9F91718-777B-90F9-0900-32530182822E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8D92011-8DEE-74EF-A045-C1BA4BD7B030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9D860349-9811-B179-C489-0A9F7D61E1EE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CADF96C-D337-7154-2AFA-10C9CB234170}"/>
              </a:ext>
            </a:extLst>
          </p:cNvPr>
          <p:cNvGrpSpPr/>
          <p:nvPr/>
        </p:nvGrpSpPr>
        <p:grpSpPr>
          <a:xfrm>
            <a:off x="109303" y="-1104900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49CC507-E012-835D-4EAB-DA6B21218BC9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579C4C0-AC31-BEFF-CC34-3C5D337C15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EA1FF6-3703-97C2-9593-BF8D5A5E29F9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B9766EF-C2CA-94C4-83DA-3B7357EBC7DF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4C648901-DA3A-0D0A-68E7-FCE7D94F8C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BF88EDF-7054-0C2F-7184-DC672AB58656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52D313D-346E-0C9A-4031-FBE4391EFED2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7BC8362B-095C-F0C5-6859-5A0591F4D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002E77C-A2C8-9B23-95C5-4F3F3EE86265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722D9C4-0E12-DC29-30BA-C11C44C03BF8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7474A9D3-2387-F158-551A-DB8B869C44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1D9958-EDB6-2314-33D5-A81F5DFDE9FD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3A469F9-AD23-1917-E315-2F80EF4EB025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F21D6425-E391-8822-711D-ABCAAB3699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1F2A0FD-4897-005A-C907-C53F6C44BC6A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976B8B2F-B35C-86F5-5EE8-336905D23FE3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DA096CD0-2921-4C58-D79D-236A32B7631F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D315B550-CA2A-2A01-6565-7F91247FF04D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76115150-A40C-9D39-2069-AA71518241AC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BCE495AD-FB16-6A3A-0C28-766C84D648CC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Operators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AF92F-53CF-684B-E583-DF3450B0A80F}"/>
              </a:ext>
            </a:extLst>
          </p:cNvPr>
          <p:cNvSpPr txBox="1"/>
          <p:nvPr/>
        </p:nvSpPr>
        <p:spPr>
          <a:xfrm>
            <a:off x="2166230" y="3215077"/>
            <a:ext cx="15096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We have mainly 4 operators;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Charlie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Dee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&amp;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Dennis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one operator in interest is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with the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highest Downtime Rate.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D3F15A7-48CA-BE7A-B202-EFBA0A8DAA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801" y="4984568"/>
            <a:ext cx="5762157" cy="2380779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1626AD-4B6C-4E82-6CB9-F9FC0456F0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960" y="7636412"/>
            <a:ext cx="5762820" cy="2380779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0415CC-30A1-231B-B5A8-B317F2F258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2285" y="4975293"/>
            <a:ext cx="7315199" cy="5086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82B278-E364-4969-33A4-1297FD872C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83540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87B7B-8ACC-B344-D74E-061D5291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D8314C6-FFBA-1A13-E4A4-D50EDBEFD44D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AFBE1BE-5316-2561-71DC-0DD50C6497A0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DF539EA-121C-05E7-E855-AE3B1F98D611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222DB3D-80EF-1207-CBDB-171362877900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836CDB-F30A-2F0E-3F2C-FAA78DA16946}"/>
              </a:ext>
            </a:extLst>
          </p:cNvPr>
          <p:cNvGrpSpPr/>
          <p:nvPr/>
        </p:nvGrpSpPr>
        <p:grpSpPr>
          <a:xfrm>
            <a:off x="109303" y="-1104900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8E0BFC-F4E7-D91E-A227-49B33FE38CB8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2A9842EA-6C22-5E90-E73B-9F6131F55C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D72FD9-89F7-DF67-6204-E8488B4E0FED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549D115-8AFA-BEF2-3DCD-E077EFFAF68A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089E518-DF4B-948C-5CDB-84E58646B0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8C30A09-C04A-B106-0035-B34DB2A6C5B1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ACBD160-E246-0275-B078-081DDD3E41F1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A0F62DED-677A-3736-8458-E32C165417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3E1DED-44C3-8C05-A6DD-8D212914E39C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29AD857-A056-9394-F64C-6A1BA45CE621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EEA401A3-434F-6DC6-7402-47960B23A4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B621151-94EF-86F3-34F1-8E0D8F10DE65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ED0387B-43DC-8A94-48F1-09FD1C3C8270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0A6BAB2-B488-0894-B9FC-C0766CE34A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BB6CCCA-2313-8743-33D6-2E00C00D6770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1C34E099-DDE4-78E1-B986-F4EB74C7FCFF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F3191BFC-4455-1794-CD79-A92CFAD039C1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DFF8C998-31F2-3B7B-73EB-2C903A47003F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5AC811D1-8F11-78D0-68E1-6DE79C8EC8E8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1BD4931C-4D5C-3C80-C7CF-7825940E659C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Operator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631EEA-4A05-842E-17B3-0328DD3ACC3C}"/>
              </a:ext>
            </a:extLst>
          </p:cNvPr>
          <p:cNvSpPr txBox="1"/>
          <p:nvPr/>
        </p:nvSpPr>
        <p:spPr>
          <a:xfrm>
            <a:off x="2166231" y="3215077"/>
            <a:ext cx="14902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But there might be a good reason for this, seeing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how many products Mac is handling.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B177AC-F840-79B2-C411-265166EE7D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161" y="5391699"/>
            <a:ext cx="16313154" cy="35447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7E4F64-A1C4-7357-6752-1917AA95EB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31107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2FD4A-D18C-52E2-459D-F719D567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8EC6BC7-55BF-0D36-3395-C9523785AED5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193B9A7-C14D-F470-D419-A079AE2FECC9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D2F55B0-3A6B-E996-7735-9063BAA39601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0682DE0D-10C8-DEDD-943F-EACB6B334A04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D28A076-7FEF-FA6D-C69B-431EDD3892C6}"/>
              </a:ext>
            </a:extLst>
          </p:cNvPr>
          <p:cNvGrpSpPr/>
          <p:nvPr/>
        </p:nvGrpSpPr>
        <p:grpSpPr>
          <a:xfrm>
            <a:off x="132749" y="-2822274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EDA4EBF-D880-A0D3-3DE9-BE423E361539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82C7D1C-7B82-E6C6-C430-EFFE7433D5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BBDAFC-79BB-9A5F-50D7-41D00C75878D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D2E02FE-3FCC-D0BE-AEAE-E5ADEA441C71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D9BF4C9-BD5A-D4A7-E1A0-4FB2FF9C44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779BF1C-0DB8-7B06-09D1-F3CEDB8CBB27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4FC9F72-FC0C-C5B2-08D6-FE3B0D0C6914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053E40D0-3595-1D98-40C7-D0C0636DD0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23C0847-26D4-8E30-F719-957A0C43256D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B7F7077-4D6C-52E0-F0AD-06E63019C58E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06DA9852-F17A-9A49-132F-30B8F1025D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536C927-14B1-135B-6E1F-9823F299A624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3244372-60B4-3332-D109-25665C049501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8054F0E-E9B8-D45D-0CE4-4C9A4CBCB8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F270C4-126D-5EDB-F326-E72D6CAE73F9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1F418899-8146-18D2-9897-6E5C47D821C4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944C47F0-EA36-A4A7-CB94-7E827CC1CA34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39080740-DFC5-8587-C029-3E19AD84E0B1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E171355C-7EB3-540B-C5AF-7B4BD91F2E37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E046B39F-A516-1FB2-EA52-63E4EAF9B256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Factors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01991-00C8-1FF0-2F60-8C3D9AD54829}"/>
              </a:ext>
            </a:extLst>
          </p:cNvPr>
          <p:cNvSpPr txBox="1"/>
          <p:nvPr/>
        </p:nvSpPr>
        <p:spPr>
          <a:xfrm>
            <a:off x="2166230" y="3215077"/>
            <a:ext cx="15096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Considering both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Downtime Duration 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&amp;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No. of Events 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for each of the factors causing the errors, 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Machine related factors </a:t>
            </a:r>
            <a:r>
              <a:rPr lang="en-US" sz="3600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are the most impactful ones</a:t>
            </a:r>
            <a:r>
              <a:rPr lang="en-US" sz="36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DD6BFD-4463-CC70-D7A6-8C747F5D60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850371"/>
            <a:ext cx="11854014" cy="473767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5DC7B81-DE71-A5DD-3157-3548E522990E}"/>
              </a:ext>
            </a:extLst>
          </p:cNvPr>
          <p:cNvGrpSpPr/>
          <p:nvPr/>
        </p:nvGrpSpPr>
        <p:grpSpPr>
          <a:xfrm>
            <a:off x="5456745" y="4457584"/>
            <a:ext cx="12443089" cy="5642184"/>
            <a:chOff x="5284395" y="4211771"/>
            <a:chExt cx="12443089" cy="573657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EB50A6A-2DE4-33C4-FC02-6E7C6675F738}"/>
                </a:ext>
              </a:extLst>
            </p:cNvPr>
            <p:cNvSpPr/>
            <p:nvPr/>
          </p:nvSpPr>
          <p:spPr>
            <a:xfrm>
              <a:off x="5284395" y="4211771"/>
              <a:ext cx="12443089" cy="5736574"/>
            </a:xfrm>
            <a:prstGeom prst="rect">
              <a:avLst/>
            </a:prstGeom>
            <a:solidFill>
              <a:schemeClr val="bg1"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6C5AA4-EF4B-1571-17E6-BBA09B072EE3}"/>
                </a:ext>
              </a:extLst>
            </p:cNvPr>
            <p:cNvSpPr txBox="1"/>
            <p:nvPr/>
          </p:nvSpPr>
          <p:spPr>
            <a:xfrm>
              <a:off x="8038177" y="6725706"/>
              <a:ext cx="7239000" cy="1220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1E6EF5"/>
                  </a:solidFill>
                  <a:latin typeface="Nirmala UI" panose="020B0502040204020203" pitchFamily="34" charset="0"/>
                  <a:ea typeface="Nirmala UI" panose="020B0502040204020203" pitchFamily="34" charset="0"/>
                  <a:cs typeface="Nirmala UI" panose="020B0502040204020203" pitchFamily="34" charset="0"/>
                </a:rPr>
                <a:t>But solving only those Problems will not be enough!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61834F1-DB18-9A40-E257-59FBD4330B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76960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55C9B-0693-3952-2732-0BF0E5353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25C803C-A8E2-7A0B-5B04-DAD11732B306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601FE7-5037-8E6E-18A6-59DA76B0233F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EC72FE6-9F25-C546-81E7-3C7FDFCAD2D3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D04F9458-DCF3-7EAF-3D8B-396E90478271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3FCA518-B749-F83E-2A9B-4C7EE28AA148}"/>
              </a:ext>
            </a:extLst>
          </p:cNvPr>
          <p:cNvGrpSpPr/>
          <p:nvPr/>
        </p:nvGrpSpPr>
        <p:grpSpPr>
          <a:xfrm>
            <a:off x="132749" y="-2822274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E2CDA95-67D4-2113-50D3-0A93A82F7D29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95C9F1D-3E4A-9847-88DB-BD474F182B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6967AA-CC39-19F7-EF98-58E3145F63FB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B599E83-2114-AAB4-94E0-7950020299D8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579B0F1F-F0E8-F029-4D63-B0996A90A6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C863ADF-5B63-7024-3C51-A27EB1A4BFA3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0F60D1F-9A8B-6138-44C6-A55F323C2324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C0EDBD17-4D41-67FB-81C9-51B823735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25417E3-551E-8CAB-37A6-73DD266BE74D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E4A2B1D-EA1D-90AF-0B73-F49CAD1CE490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9C456D70-D239-84F2-1DB6-A0D7E98F0C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E1D3A2-7F9D-E59B-55E5-81CE84567020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08B45F1-ABB9-A459-776D-6A58498B6B9C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66CA07D5-7E18-187A-7199-1F8C7B3939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6FE4CAC-B2C2-E66E-F978-BFAEA979CC36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07335C3D-9E22-8DAD-89E3-10DB0F521A32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A2562FE8-BB2E-E0A9-E51A-906AF4838AF5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755316B6-8695-856A-CF1D-717F1FFD2ED2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EED9FCAE-2D17-3AA4-4A75-E23CE7170D52}"/>
              </a:ext>
            </a:extLst>
          </p:cNvPr>
          <p:cNvSpPr txBox="1"/>
          <p:nvPr/>
        </p:nvSpPr>
        <p:spPr>
          <a:xfrm>
            <a:off x="2249214" y="327778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Now let’s zoom into the problem!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B536DA95-5E8E-8FD1-E9DA-9534B20D128A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Factors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EB809-DD9C-B325-D59C-9F458D7DA48F}"/>
              </a:ext>
            </a:extLst>
          </p:cNvPr>
          <p:cNvSpPr txBox="1"/>
          <p:nvPr/>
        </p:nvSpPr>
        <p:spPr>
          <a:xfrm>
            <a:off x="2166230" y="3215077"/>
            <a:ext cx="15096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Let's take a closer look!</a:t>
            </a:r>
            <a:endParaRPr lang="en-US" sz="36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D3C807-CABF-3727-DEC3-545D5C75DC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861" y="8851"/>
            <a:ext cx="16841591" cy="10298962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DAEBFC1-F045-0469-8C66-4AD3CDFA5887}"/>
              </a:ext>
            </a:extLst>
          </p:cNvPr>
          <p:cNvCxnSpPr>
            <a:cxnSpLocks/>
          </p:cNvCxnSpPr>
          <p:nvPr/>
        </p:nvCxnSpPr>
        <p:spPr>
          <a:xfrm>
            <a:off x="8686800" y="2933700"/>
            <a:ext cx="0" cy="6172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911CD47-AA65-9C75-4577-C268766009EE}"/>
              </a:ext>
            </a:extLst>
          </p:cNvPr>
          <p:cNvSpPr/>
          <p:nvPr/>
        </p:nvSpPr>
        <p:spPr>
          <a:xfrm>
            <a:off x="1876488" y="8502009"/>
            <a:ext cx="7428186" cy="26523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allout: Bent Line 41">
            <a:extLst>
              <a:ext uri="{FF2B5EF4-FFF2-40B4-BE49-F238E27FC236}">
                <a16:creationId xmlns:a16="http://schemas.microsoft.com/office/drawing/2014/main" id="{7F163C8F-418E-1712-66AB-37A200E017A7}"/>
              </a:ext>
            </a:extLst>
          </p:cNvPr>
          <p:cNvSpPr/>
          <p:nvPr/>
        </p:nvSpPr>
        <p:spPr>
          <a:xfrm>
            <a:off x="10832787" y="3861408"/>
            <a:ext cx="4644889" cy="3297664"/>
          </a:xfrm>
          <a:prstGeom prst="borderCallout2">
            <a:avLst>
              <a:gd name="adj1" fmla="val 18750"/>
              <a:gd name="adj2" fmla="val -833"/>
              <a:gd name="adj3" fmla="val 18750"/>
              <a:gd name="adj4" fmla="val -16667"/>
              <a:gd name="adj5" fmla="val 158042"/>
              <a:gd name="adj6" fmla="val -4610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007112-FBB2-E662-99A3-C41D3C8D1E47}"/>
              </a:ext>
            </a:extLst>
          </p:cNvPr>
          <p:cNvSpPr txBox="1"/>
          <p:nvPr/>
        </p:nvSpPr>
        <p:spPr>
          <a:xfrm>
            <a:off x="11030496" y="3927775"/>
            <a:ext cx="459050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Working on those </a:t>
            </a: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five: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Machine adjustment.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Machine failure.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Inventory shortage.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Batch change.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Batch coding error.</a:t>
            </a:r>
          </a:p>
          <a:p>
            <a:r>
              <a:rPr lang="en-US" sz="2800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will save you </a:t>
            </a:r>
            <a:r>
              <a:rPr lang="en-US" sz="2800" b="1" dirty="0">
                <a:solidFill>
                  <a:srgbClr val="0F1F3D"/>
                </a:solidFill>
                <a:latin typeface="Bahnschrift Light Condensed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80% of your time!</a:t>
            </a:r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650B2104-83A2-E2A0-DB3F-33916520CEFA}"/>
              </a:ext>
            </a:extLst>
          </p:cNvPr>
          <p:cNvSpPr/>
          <p:nvPr/>
        </p:nvSpPr>
        <p:spPr>
          <a:xfrm>
            <a:off x="-6959581" y="1551089"/>
            <a:ext cx="6204329" cy="5691387"/>
          </a:xfrm>
          <a:custGeom>
            <a:avLst/>
            <a:gdLst/>
            <a:ahLst/>
            <a:cxnLst/>
            <a:rect l="l" t="t" r="r" b="b"/>
            <a:pathLst>
              <a:path w="6204329" h="5691387">
                <a:moveTo>
                  <a:pt x="0" y="0"/>
                </a:moveTo>
                <a:lnTo>
                  <a:pt x="6204329" y="0"/>
                </a:lnTo>
                <a:lnTo>
                  <a:pt x="6204329" y="5691388"/>
                </a:lnTo>
                <a:lnTo>
                  <a:pt x="0" y="56913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D7A9F8-0EF9-14F5-4A81-99A500CE8B5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48033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D4790-C5D6-DDB9-F50B-C90DE9B9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37D88530-839D-4B65-1F6B-A8D0F7947F66}"/>
              </a:ext>
            </a:extLst>
          </p:cNvPr>
          <p:cNvSpPr txBox="1"/>
          <p:nvPr/>
        </p:nvSpPr>
        <p:spPr>
          <a:xfrm>
            <a:off x="9138138" y="3529026"/>
            <a:ext cx="7787964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Here comes what we recommend…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BD956626-2309-6648-FB9D-AE356B1405C0}"/>
              </a:ext>
            </a:extLst>
          </p:cNvPr>
          <p:cNvGrpSpPr/>
          <p:nvPr/>
        </p:nvGrpSpPr>
        <p:grpSpPr>
          <a:xfrm>
            <a:off x="-205740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99070485-A32B-FB9F-B2FB-8B56A95B253C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3EA07FC9-4814-8CF3-1826-0C730E214F39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2">
            <a:extLst>
              <a:ext uri="{FF2B5EF4-FFF2-40B4-BE49-F238E27FC236}">
                <a16:creationId xmlns:a16="http://schemas.microsoft.com/office/drawing/2014/main" id="{3C2DE73A-4BDE-60C4-721E-09B7785265FB}"/>
              </a:ext>
            </a:extLst>
          </p:cNvPr>
          <p:cNvGrpSpPr/>
          <p:nvPr/>
        </p:nvGrpSpPr>
        <p:grpSpPr>
          <a:xfrm>
            <a:off x="-20684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74460535-9254-56C9-3A50-52E806C45841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TextBox 4">
              <a:extLst>
                <a:ext uri="{FF2B5EF4-FFF2-40B4-BE49-F238E27FC236}">
                  <a16:creationId xmlns:a16="http://schemas.microsoft.com/office/drawing/2014/main" id="{03AA134C-738E-1AF2-6F45-12CFA2F0F173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06FF65B-B0B5-118F-961E-9DD370090255}"/>
              </a:ext>
            </a:extLst>
          </p:cNvPr>
          <p:cNvGrpSpPr/>
          <p:nvPr/>
        </p:nvGrpSpPr>
        <p:grpSpPr>
          <a:xfrm>
            <a:off x="-1927867" y="-2707427"/>
            <a:ext cx="1471364" cy="7710745"/>
            <a:chOff x="125277" y="2117664"/>
            <a:chExt cx="1471364" cy="771074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EA2E2C0-2EF8-8F2F-D8A5-394EA520AD35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EEC5CA69-E370-68FC-AFAE-BBC8DD9887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D771B60-8BCA-39B1-1864-7B96D673B69D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D294B87-8EC5-F45A-D312-9AAFD9B7D4F4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DA13F955-A375-E4D9-A12A-4B7321877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A799F42-9D0D-09D6-1D1D-E77BC07EAD8D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B4267FA-8088-2486-DF37-70B52EA4B86F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F35F1D56-9E5F-2D7B-CBA7-7461CC5E55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DCB7F3-A49E-6313-1E68-193FEB43F5E1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08B7787-7C07-D38B-B4B0-4F6EDF0E9679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D00512A-1A88-F8CB-1610-FD028E7B8F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6D44F0-86B6-6CAC-80F5-A1262DD33470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793F6C5-B73F-1C55-13D8-74FE982F220A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852B03B-215A-AA2C-9E03-D56DF14A2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CA4F34-BB41-826A-89AE-D6D8082B93E1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19" name="Group 2">
            <a:extLst>
              <a:ext uri="{FF2B5EF4-FFF2-40B4-BE49-F238E27FC236}">
                <a16:creationId xmlns:a16="http://schemas.microsoft.com/office/drawing/2014/main" id="{BCDF4BE4-14DD-5582-017D-0853E6F63249}"/>
              </a:ext>
            </a:extLst>
          </p:cNvPr>
          <p:cNvGrpSpPr/>
          <p:nvPr/>
        </p:nvGrpSpPr>
        <p:grpSpPr>
          <a:xfrm>
            <a:off x="-1916085" y="1984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E9CC871C-768B-B2F2-C472-068D0B0509A8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31BDFA53-2F43-56FB-B5E2-851D9BB0F227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FCFC8EAC-810B-8769-D642-5349D7DCEF3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5342" y="621207"/>
            <a:ext cx="588787" cy="588787"/>
          </a:xfrm>
          <a:prstGeom prst="rect">
            <a:avLst/>
          </a:prstGeom>
          <a:noFill/>
        </p:spPr>
      </p:pic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9F308B84-E254-DA15-3F88-8DD4241D8699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01E817C9-63E9-1DA3-7887-F83453063F24}"/>
              </a:ext>
            </a:extLst>
          </p:cNvPr>
          <p:cNvSpPr/>
          <p:nvPr/>
        </p:nvSpPr>
        <p:spPr>
          <a:xfrm>
            <a:off x="2161143" y="1792918"/>
            <a:ext cx="6204329" cy="5691387"/>
          </a:xfrm>
          <a:custGeom>
            <a:avLst/>
            <a:gdLst/>
            <a:ahLst/>
            <a:cxnLst/>
            <a:rect l="l" t="t" r="r" b="b"/>
            <a:pathLst>
              <a:path w="6204329" h="5691387">
                <a:moveTo>
                  <a:pt x="0" y="0"/>
                </a:moveTo>
                <a:lnTo>
                  <a:pt x="6204329" y="0"/>
                </a:lnTo>
                <a:lnTo>
                  <a:pt x="6204329" y="5691388"/>
                </a:lnTo>
                <a:lnTo>
                  <a:pt x="0" y="56913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D1E51C3-A316-8FD2-8063-180F4505F6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9000" y="4121987"/>
            <a:ext cx="3988272" cy="398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037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2BBF5-43DE-F977-C8A3-BC001BE4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4C5F6C-41A4-DCCE-C9F9-3245AEE43696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6DBD708-CA43-B627-B331-07470F369B24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214195-7DBC-1C7F-8C1B-A8E07F3387DD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91088C5-F153-DB5F-310F-618F2752D4DE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0DCA00B-4857-4168-CF84-86CE2856052E}"/>
              </a:ext>
            </a:extLst>
          </p:cNvPr>
          <p:cNvGrpSpPr/>
          <p:nvPr/>
        </p:nvGrpSpPr>
        <p:grpSpPr>
          <a:xfrm>
            <a:off x="132749" y="-4405250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D1C383B-5F5B-34B8-1590-B684701AB2C0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09C17D62-3CC3-D758-8A6D-8383A1C616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6935FC-844E-9F83-64DB-6712F686B9D4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1E667BA-A7F5-8EED-EDA7-D4E4113FFA2B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480E97D-FF1C-A207-D913-9BCB8E5B2A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29A1C1B-41B9-0CFD-4BB8-4BD5EC4D8928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2A4A2B9-B1BE-2B73-E970-52B671A4C17C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12895515-C1D7-2BB3-3D73-189E8EC738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CEF2882-ECFA-01C4-5874-A3AAE81766C6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A9B9A56-48EB-3A59-6662-D4F08E2941D8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7276D454-0D13-32C2-6AE3-C13415DAEC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252E924-53F0-A2A5-B23D-094118D333EB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E6786FC-8A00-E25F-2DC7-781DD9810199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C383430F-2CDD-1FD0-123C-B5AE120FEC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4E2ED7-D595-DA6F-4658-515538BCF543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4DADDA58-683E-E715-F53C-4615FD1B5503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B5B1C9F8-A28E-14B0-751E-7148E1771B88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7F19E726-234B-9D05-1A5C-C390069CD84A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988C2E18-BA32-D5E9-0A6F-89A61F7F3B72}"/>
              </a:ext>
            </a:extLst>
          </p:cNvPr>
          <p:cNvSpPr txBox="1"/>
          <p:nvPr/>
        </p:nvSpPr>
        <p:spPr>
          <a:xfrm>
            <a:off x="2249213" y="327778"/>
            <a:ext cx="15509179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Here comes what we recommend…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25FA337A-4E2E-B1CF-BBD8-380A5D2A8D05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Our solutions</a:t>
            </a:r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2B333DC0-FA96-0E21-D9A0-3F039E7661E0}"/>
              </a:ext>
            </a:extLst>
          </p:cNvPr>
          <p:cNvSpPr/>
          <p:nvPr/>
        </p:nvSpPr>
        <p:spPr>
          <a:xfrm>
            <a:off x="-6959581" y="1551089"/>
            <a:ext cx="6204329" cy="5691387"/>
          </a:xfrm>
          <a:custGeom>
            <a:avLst/>
            <a:gdLst/>
            <a:ahLst/>
            <a:cxnLst/>
            <a:rect l="l" t="t" r="r" b="b"/>
            <a:pathLst>
              <a:path w="6204329" h="5691387">
                <a:moveTo>
                  <a:pt x="0" y="0"/>
                </a:moveTo>
                <a:lnTo>
                  <a:pt x="6204329" y="0"/>
                </a:lnTo>
                <a:lnTo>
                  <a:pt x="6204329" y="5691388"/>
                </a:lnTo>
                <a:lnTo>
                  <a:pt x="0" y="56913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0E3C49-07BE-9B97-4A45-C57CA0AE83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3981245"/>
            <a:ext cx="3988272" cy="3988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E41AB4-04CD-3E9D-4504-E8195E0698F7}"/>
              </a:ext>
            </a:extLst>
          </p:cNvPr>
          <p:cNvSpPr txBox="1"/>
          <p:nvPr/>
        </p:nvSpPr>
        <p:spPr>
          <a:xfrm>
            <a:off x="2249212" y="3837125"/>
            <a:ext cx="106285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Start by working on the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five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main factors: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Machine adjustment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Machine failure.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Inventory shortage.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Batch change.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it’s recommended to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reduce the time of changing products between batches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Batch coding error.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8E6D6F-62BE-DF16-1311-76F48B019B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29377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3E755-3054-BC17-8610-84E8DE47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7CD42A6-BC3F-4CBD-0B3B-9560BE324875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F9D86F1-6850-5192-0B8A-87161DE09C09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7170706-94D8-AE9F-2C32-57AF8BE93D9D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211CD73-864D-3446-894D-6BA03B5D4D41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7465C90-7E6F-5393-0483-2AB4FF23FC81}"/>
              </a:ext>
            </a:extLst>
          </p:cNvPr>
          <p:cNvGrpSpPr/>
          <p:nvPr/>
        </p:nvGrpSpPr>
        <p:grpSpPr>
          <a:xfrm>
            <a:off x="132749" y="-4405250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FD8BF7B-0581-28BB-A9BA-F78091C6E54B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1C6BB1A-9BC0-4FB0-D852-6CE3D8CC3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F137C5-278F-F455-606F-CB9D036B6168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62044D-50D4-B0CE-2F88-6DE7552BA18B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3E7396C5-99E0-499D-9AC3-E854714EC7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C9CCB3C-810A-86DE-6074-1F672AB54DF0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BC9E059-25B3-D81E-5ADF-BE42437212C9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2C102238-5698-6F23-4671-FBB5A0F98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AC95199-25FF-335C-0F79-88CCB6029A18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8E4FE5E-D27D-3C6A-D153-9EA1E84D2140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D515DE8-A2E4-3CF5-4FAF-3AC7AAE7F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569824C-86A5-6189-FB83-19FF109B26F9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38A7D26-C5D0-E069-3B2C-0AD1A3587021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71F97DBE-5E09-34AC-285C-4D68421D04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3CE656-63DF-8311-7DFF-DF6DE37B868D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6F08F363-6543-E686-2B14-7D7CBCB1D5F0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3CCC00C7-0F71-F045-E612-3373F36B1F41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CF45E18B-5741-19F2-26E5-10CBCBEABA3B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9AB4BF6F-F901-8058-C0F8-9702BCA5BF26}"/>
              </a:ext>
            </a:extLst>
          </p:cNvPr>
          <p:cNvSpPr txBox="1"/>
          <p:nvPr/>
        </p:nvSpPr>
        <p:spPr>
          <a:xfrm>
            <a:off x="2249213" y="327778"/>
            <a:ext cx="15509179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Here comes what we recommend…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A0A88E97-7FB4-6F1B-9A11-3D46080E898D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Our solutions</a:t>
            </a:r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484AAD54-AA18-7763-7C03-79F246EC4F6F}"/>
              </a:ext>
            </a:extLst>
          </p:cNvPr>
          <p:cNvSpPr/>
          <p:nvPr/>
        </p:nvSpPr>
        <p:spPr>
          <a:xfrm>
            <a:off x="-6959581" y="1551089"/>
            <a:ext cx="6204329" cy="5691387"/>
          </a:xfrm>
          <a:custGeom>
            <a:avLst/>
            <a:gdLst/>
            <a:ahLst/>
            <a:cxnLst/>
            <a:rect l="l" t="t" r="r" b="b"/>
            <a:pathLst>
              <a:path w="6204329" h="5691387">
                <a:moveTo>
                  <a:pt x="0" y="0"/>
                </a:moveTo>
                <a:lnTo>
                  <a:pt x="6204329" y="0"/>
                </a:lnTo>
                <a:lnTo>
                  <a:pt x="6204329" y="5691388"/>
                </a:lnTo>
                <a:lnTo>
                  <a:pt x="0" y="56913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EB0896-D8ED-F9A4-792F-27708D17211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9000" y="4121987"/>
            <a:ext cx="3988272" cy="3988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600369-1298-4033-5D68-5F98B41EEC67}"/>
              </a:ext>
            </a:extLst>
          </p:cNvPr>
          <p:cNvSpPr txBox="1"/>
          <p:nvPr/>
        </p:nvSpPr>
        <p:spPr>
          <a:xfrm>
            <a:off x="2249213" y="3837125"/>
            <a:ext cx="861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Reduce the load on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by transforming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OR-600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to another operator to work 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4CBAFD-92A4-4D2F-E954-15AB2DB4980F}"/>
              </a:ext>
            </a:extLst>
          </p:cNvPr>
          <p:cNvSpPr txBox="1"/>
          <p:nvPr/>
        </p:nvSpPr>
        <p:spPr>
          <a:xfrm>
            <a:off x="2249212" y="5137541"/>
            <a:ext cx="90283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This operator is recommended to be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Dee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one with lowest Downtime Rate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A82741-9B86-2336-7076-5401EBDF3DFD}"/>
              </a:ext>
            </a:extLst>
          </p:cNvPr>
          <p:cNvSpPr txBox="1"/>
          <p:nvPr/>
        </p:nvSpPr>
        <p:spPr>
          <a:xfrm>
            <a:off x="2237489" y="6583282"/>
            <a:ext cx="88759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This also predicted to reduce the Downtime of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OR-600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the highest Downtime Rate product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ADAFFD0-4D1A-0CAC-0D18-3429FB1642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4407" y="3075318"/>
            <a:ext cx="4877481" cy="4877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BEE68D-57C7-5555-8697-D559BE761B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2489" y="4574524"/>
            <a:ext cx="5474495" cy="2637159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25B19B-840E-D1E1-D2DE-B961C80039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02723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1D62-8AFB-6FB4-1B38-25DE98FC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14B6952-A675-E2E8-CCDE-AF31AFA08728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3DA960-403F-C112-E45A-5ED68DC50A6A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D68BDC0-34B3-7BB1-08A9-7E76340C74E4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8C964139-DA8E-A2C2-7830-1B6E020F1C7C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60D8713-BCE9-1B21-4B94-3BB2137A8422}"/>
              </a:ext>
            </a:extLst>
          </p:cNvPr>
          <p:cNvGrpSpPr/>
          <p:nvPr/>
        </p:nvGrpSpPr>
        <p:grpSpPr>
          <a:xfrm>
            <a:off x="132749" y="-4405250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37A87B1-2788-B7AF-318F-1B82C1EDC184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619339E-21C7-525F-6310-F705A8D42F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90D6108-F96A-C4E1-3692-1970289CC7D1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EBA54D0-49D1-5E3E-41E2-A16A5527E4CC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6644AE8-BDDF-6A52-297E-0890C3402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08F17A-E50D-DE81-8020-AE625BFF8536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5092589-754F-11B0-DF45-4C7AACBCFA15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A3C6EA7F-503E-A5ED-6473-A14A1730AB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397CF8-1CE6-4FDB-313B-2B42D969B403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E011D27-EDF6-6F74-DEB0-FBDB3517B46D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A31E7CE4-2AFC-DB22-279B-E7C47A9CB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6D65CBE-1CFE-AADD-6417-B44B8D68765F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99A83D3-2F92-1790-C028-B855B87917E0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F3EE9126-A386-5653-38EE-AFD562F89E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47FAE35-B92B-7C51-16F6-7D87127EFAA0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A0BEF7F0-AD5D-CBAF-569F-DF5135657846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FEF6918E-265C-2E0E-8EC4-66294DCFFEC1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50351CD0-9531-A2BA-6A2E-3DE74F49F06B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B5F019A6-852B-B723-4DAB-AF51F6457BF0}"/>
              </a:ext>
            </a:extLst>
          </p:cNvPr>
          <p:cNvSpPr txBox="1"/>
          <p:nvPr/>
        </p:nvSpPr>
        <p:spPr>
          <a:xfrm>
            <a:off x="2249213" y="327778"/>
            <a:ext cx="15509179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Here comes what we recommend…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22CE320B-8ECD-4ADF-B4F2-051F11F083D2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Our solutions</a:t>
            </a:r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C7C296DB-F25E-C9B8-62FD-BDED10E7F002}"/>
              </a:ext>
            </a:extLst>
          </p:cNvPr>
          <p:cNvSpPr/>
          <p:nvPr/>
        </p:nvSpPr>
        <p:spPr>
          <a:xfrm>
            <a:off x="-6959581" y="1551089"/>
            <a:ext cx="6204329" cy="5691387"/>
          </a:xfrm>
          <a:custGeom>
            <a:avLst/>
            <a:gdLst/>
            <a:ahLst/>
            <a:cxnLst/>
            <a:rect l="l" t="t" r="r" b="b"/>
            <a:pathLst>
              <a:path w="6204329" h="5691387">
                <a:moveTo>
                  <a:pt x="0" y="0"/>
                </a:moveTo>
                <a:lnTo>
                  <a:pt x="6204329" y="0"/>
                </a:lnTo>
                <a:lnTo>
                  <a:pt x="6204329" y="5691388"/>
                </a:lnTo>
                <a:lnTo>
                  <a:pt x="0" y="56913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69391E-1E92-2312-7053-49A3D94FC8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9000" y="4121987"/>
            <a:ext cx="3988272" cy="3988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3D62EE-8E9C-576F-500F-093B99381F63}"/>
              </a:ext>
            </a:extLst>
          </p:cNvPr>
          <p:cNvSpPr txBox="1"/>
          <p:nvPr/>
        </p:nvSpPr>
        <p:spPr>
          <a:xfrm>
            <a:off x="2249213" y="5661465"/>
            <a:ext cx="57018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All workers need more training on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Machine Adjustment, 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especially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Dennis.</a:t>
            </a:r>
            <a:endParaRPr lang="en-US" sz="3200" b="1" dirty="0">
              <a:solidFill>
                <a:srgbClr val="0F1F3D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C3EFC45-4923-3339-1F91-46AB2FE765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4407" y="3075318"/>
            <a:ext cx="4877481" cy="48774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932038-2B35-B101-98D3-AF9FEF993A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309" y="3911241"/>
            <a:ext cx="9368676" cy="57725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C3393A-CFD2-CE07-CA79-6325AFD1AE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74026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17649-2A17-8C2F-B85D-1F7E5D59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F7DF9BD-36BE-8542-5B5C-CD322D415123}"/>
              </a:ext>
            </a:extLst>
          </p:cNvPr>
          <p:cNvGrpSpPr/>
          <p:nvPr/>
        </p:nvGrpSpPr>
        <p:grpSpPr>
          <a:xfrm>
            <a:off x="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CD62B59-4F67-30A5-2830-3B18845E3F5A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427A2CC-C4F0-D5A8-75E3-D30B80D48AE4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9D21EE56-0FB9-6676-4539-F41A48872C95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2B1C35C-B84A-4C80-B409-1EE3DF4AFF93}"/>
              </a:ext>
            </a:extLst>
          </p:cNvPr>
          <p:cNvGrpSpPr/>
          <p:nvPr/>
        </p:nvGrpSpPr>
        <p:grpSpPr>
          <a:xfrm>
            <a:off x="132749" y="-4405250"/>
            <a:ext cx="1471364" cy="7710745"/>
            <a:chOff x="125277" y="2117664"/>
            <a:chExt cx="1471364" cy="771074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225B195-E2BE-1E73-4C66-F45A78EFBC43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ED40DDD1-FF35-BE42-3318-625DFF95B7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DE285A-3B68-90BD-6E02-9A1880F22725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8C15C4C-BE79-B56A-ED37-8DB6164EE9C8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08E32BC5-1C09-B7FB-9AA1-56BE3AC477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18B2AE5-8D03-149B-A683-4B4E177EC924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549F398-3BC6-3AE0-5793-126EFB0F5FE8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BD3167BB-A71F-A7AD-8C7A-8F0652116E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2DB8E00-5C0F-5553-6083-325B7BB1998C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5F89BCE-68AC-269F-CB4B-E085398FC792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62653B46-6896-6249-8A30-6FD2A816BE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D37441-118D-C642-7A8F-EAC80CFE7C44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92C85B-74FB-8988-FB63-4C271C5A8B9B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7026FE0A-2EB4-23F4-B4A9-9112119AD6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5E2A0D-1657-375B-4071-74A9C17097EC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33" name="Group 2">
            <a:extLst>
              <a:ext uri="{FF2B5EF4-FFF2-40B4-BE49-F238E27FC236}">
                <a16:creationId xmlns:a16="http://schemas.microsoft.com/office/drawing/2014/main" id="{FFDFE598-3AC1-7A26-AF9B-6BD6F3FE8C2D}"/>
              </a:ext>
            </a:extLst>
          </p:cNvPr>
          <p:cNvGrpSpPr/>
          <p:nvPr/>
        </p:nvGrpSpPr>
        <p:grpSpPr>
          <a:xfrm>
            <a:off x="-110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34" name="Freeform 3">
              <a:extLst>
                <a:ext uri="{FF2B5EF4-FFF2-40B4-BE49-F238E27FC236}">
                  <a16:creationId xmlns:a16="http://schemas.microsoft.com/office/drawing/2014/main" id="{2D4E953F-B37D-F298-C1AE-7EA8B75F7727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4">
              <a:extLst>
                <a:ext uri="{FF2B5EF4-FFF2-40B4-BE49-F238E27FC236}">
                  <a16:creationId xmlns:a16="http://schemas.microsoft.com/office/drawing/2014/main" id="{EF1D8EC8-39FC-9B5A-E65F-271FD841255F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18">
            <a:extLst>
              <a:ext uri="{FF2B5EF4-FFF2-40B4-BE49-F238E27FC236}">
                <a16:creationId xmlns:a16="http://schemas.microsoft.com/office/drawing/2014/main" id="{5227C8C9-B2B2-3603-ABCD-F8FF36E85687}"/>
              </a:ext>
            </a:extLst>
          </p:cNvPr>
          <p:cNvSpPr txBox="1"/>
          <p:nvPr/>
        </p:nvSpPr>
        <p:spPr>
          <a:xfrm>
            <a:off x="2249213" y="327778"/>
            <a:ext cx="15509179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Here comes what we recommend…</a:t>
            </a:r>
          </a:p>
        </p:txBody>
      </p:sp>
      <p:sp>
        <p:nvSpPr>
          <p:cNvPr id="40" name="TextBox 18">
            <a:extLst>
              <a:ext uri="{FF2B5EF4-FFF2-40B4-BE49-F238E27FC236}">
                <a16:creationId xmlns:a16="http://schemas.microsoft.com/office/drawing/2014/main" id="{B3D44B4C-44E0-6D08-6006-8D44AA334427}"/>
              </a:ext>
            </a:extLst>
          </p:cNvPr>
          <p:cNvSpPr txBox="1"/>
          <p:nvPr/>
        </p:nvSpPr>
        <p:spPr>
          <a:xfrm>
            <a:off x="2249214" y="1664675"/>
            <a:ext cx="14209986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1"/>
              </a:lnSpc>
            </a:pPr>
            <a:r>
              <a:rPr lang="en-US" sz="10500" u="sng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Our solutions</a:t>
            </a:r>
          </a:p>
        </p:txBody>
      </p:sp>
      <p:sp>
        <p:nvSpPr>
          <p:cNvPr id="5" name="Freeform 12">
            <a:extLst>
              <a:ext uri="{FF2B5EF4-FFF2-40B4-BE49-F238E27FC236}">
                <a16:creationId xmlns:a16="http://schemas.microsoft.com/office/drawing/2014/main" id="{EA198698-2170-828B-EBD5-6CEF979B4EBE}"/>
              </a:ext>
            </a:extLst>
          </p:cNvPr>
          <p:cNvSpPr/>
          <p:nvPr/>
        </p:nvSpPr>
        <p:spPr>
          <a:xfrm>
            <a:off x="-6959581" y="1551089"/>
            <a:ext cx="6204329" cy="5691387"/>
          </a:xfrm>
          <a:custGeom>
            <a:avLst/>
            <a:gdLst/>
            <a:ahLst/>
            <a:cxnLst/>
            <a:rect l="l" t="t" r="r" b="b"/>
            <a:pathLst>
              <a:path w="6204329" h="5691387">
                <a:moveTo>
                  <a:pt x="0" y="0"/>
                </a:moveTo>
                <a:lnTo>
                  <a:pt x="6204329" y="0"/>
                </a:lnTo>
                <a:lnTo>
                  <a:pt x="6204329" y="5691388"/>
                </a:lnTo>
                <a:lnTo>
                  <a:pt x="0" y="56913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9E91B-DB58-534C-C03D-1DB67EFADFA5}"/>
              </a:ext>
            </a:extLst>
          </p:cNvPr>
          <p:cNvSpPr txBox="1"/>
          <p:nvPr/>
        </p:nvSpPr>
        <p:spPr>
          <a:xfrm>
            <a:off x="2249213" y="4396782"/>
            <a:ext cx="8610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Reconsider the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redistribution of CO sizes Production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(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as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CO-600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has the most Total Downtime, and about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7 times 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operational cost more than the 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2L size </a:t>
            </a:r>
            <a:r>
              <a:rPr lang="en-US" sz="3200" b="1" dirty="0">
                <a:solidFill>
                  <a:srgbClr val="0F1F3D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of the same product</a:t>
            </a:r>
            <a:r>
              <a:rPr lang="en-US" sz="3200" b="1" dirty="0">
                <a:solidFill>
                  <a:srgbClr val="1E6EF5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3CA8A-729F-E5F3-BB8A-96C9B4A627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1" t="6250" r="47351" b="7032"/>
          <a:stretch>
            <a:fillRect/>
          </a:stretch>
        </p:blipFill>
        <p:spPr>
          <a:xfrm>
            <a:off x="18440400" y="1828800"/>
            <a:ext cx="6682839" cy="8458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33828A-FF42-D098-598B-9849611E7B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6200" y="3199358"/>
            <a:ext cx="4877481" cy="48774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746A9B7-08D9-860E-52A3-82E9411F9A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67470" y="3282635"/>
            <a:ext cx="5765273" cy="5066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A1437F-D4B1-089C-ACF9-1856668E707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2170" y="17293"/>
            <a:ext cx="1725918" cy="18435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54884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770FF-D12E-0039-23B6-E6ECF4FF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3396688B-2F58-172C-432D-5A31C51AE0DE}"/>
              </a:ext>
            </a:extLst>
          </p:cNvPr>
          <p:cNvSpPr txBox="1"/>
          <p:nvPr/>
        </p:nvSpPr>
        <p:spPr>
          <a:xfrm>
            <a:off x="540349" y="3732857"/>
            <a:ext cx="10972800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Small adjustments</a:t>
            </a:r>
          </a:p>
          <a:p>
            <a:pPr algn="ctr">
              <a:lnSpc>
                <a:spcPts val="10991"/>
              </a:lnSpc>
            </a:pPr>
            <a:r>
              <a:rPr lang="en-US" sz="105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for a big difference, right?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A05CB8B5-46D1-FC61-E4A6-C5FCB52CDD6B}"/>
              </a:ext>
            </a:extLst>
          </p:cNvPr>
          <p:cNvGrpSpPr/>
          <p:nvPr/>
        </p:nvGrpSpPr>
        <p:grpSpPr>
          <a:xfrm>
            <a:off x="-205740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8BF58C46-C855-9143-2B3A-4C5CFB108463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EE529A5D-0D44-F66C-D861-C1729CAE0DAE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2">
            <a:extLst>
              <a:ext uri="{FF2B5EF4-FFF2-40B4-BE49-F238E27FC236}">
                <a16:creationId xmlns:a16="http://schemas.microsoft.com/office/drawing/2014/main" id="{48AFCA85-4A7B-068D-BE05-9FC11ACEE91E}"/>
              </a:ext>
            </a:extLst>
          </p:cNvPr>
          <p:cNvGrpSpPr/>
          <p:nvPr/>
        </p:nvGrpSpPr>
        <p:grpSpPr>
          <a:xfrm>
            <a:off x="-20684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5BF96000-088B-3639-104A-F03FF789A4C1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TextBox 4">
              <a:extLst>
                <a:ext uri="{FF2B5EF4-FFF2-40B4-BE49-F238E27FC236}">
                  <a16:creationId xmlns:a16="http://schemas.microsoft.com/office/drawing/2014/main" id="{0A32FD35-0062-04DA-5933-8479B56445CD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AA3EAFE-6E7E-3358-EDD8-76D8BCE1D68C}"/>
              </a:ext>
            </a:extLst>
          </p:cNvPr>
          <p:cNvGrpSpPr/>
          <p:nvPr/>
        </p:nvGrpSpPr>
        <p:grpSpPr>
          <a:xfrm>
            <a:off x="-1927867" y="-4181719"/>
            <a:ext cx="1471364" cy="7710745"/>
            <a:chOff x="125277" y="2117664"/>
            <a:chExt cx="1471364" cy="771074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01413D4-6E3F-4AA5-575F-F88703592330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62AE321-8DC8-6545-EDE6-FDA7933089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CC9281-F51E-EDB2-5741-C7DCB61A3591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A56ACD-A726-3C48-6246-4E44588A6771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CA6C521-F740-4BBF-53A4-EE455C44B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AA2BDF-D8C3-7E04-9320-00A88DE741D9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878D4DF-93EC-D39C-2868-D5029C571A1A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C522225C-AE87-857A-6681-D898E5787F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CFE57FF-177A-6351-3D1D-682B7E03576F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6ADA5C3-8E88-8208-864F-6DEB75FA1690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7F22503-5019-4C34-E51E-E35075A3E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EF67ADF-C455-817C-A679-7CEFBE947C84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833A99-6A55-7B24-6777-6B165401AF62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801ADE4-9297-2495-34B4-4024D9357C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0B0DD4-F25E-E1B3-9513-F0852E01DDE1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19" name="Group 2">
            <a:extLst>
              <a:ext uri="{FF2B5EF4-FFF2-40B4-BE49-F238E27FC236}">
                <a16:creationId xmlns:a16="http://schemas.microsoft.com/office/drawing/2014/main" id="{F130E2E1-4993-257D-6EF2-34F3752ABB9B}"/>
              </a:ext>
            </a:extLst>
          </p:cNvPr>
          <p:cNvGrpSpPr/>
          <p:nvPr/>
        </p:nvGrpSpPr>
        <p:grpSpPr>
          <a:xfrm>
            <a:off x="-1916085" y="1984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63761571-B35E-B705-9FC4-C0F7776FD4C3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06C190D6-EABC-FD4B-E1F2-A8BA61F2DCF9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FE92A0F6-F95B-9910-8AA5-1AEB5E3966E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5342" y="621207"/>
            <a:ext cx="588787" cy="588787"/>
          </a:xfrm>
          <a:prstGeom prst="rect">
            <a:avLst/>
          </a:prstGeom>
          <a:noFill/>
        </p:spPr>
      </p:pic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8269CEB-BD6C-19E4-B6F0-14D51ACA35B8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2733516-333E-DF43-009A-09EB292E34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1" t="6250" r="47351" b="7032"/>
          <a:stretch>
            <a:fillRect/>
          </a:stretch>
        </p:blipFill>
        <p:spPr>
          <a:xfrm>
            <a:off x="12340713" y="1966614"/>
            <a:ext cx="6682839" cy="8458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9387713-0F9A-C090-81DF-5B2E5B4CF2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4407" y="3075318"/>
            <a:ext cx="487748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304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135FC-BE1D-814B-0D29-0238835EA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3B1FA967-9C10-59B6-8EB1-222BF11702F6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5B257F2-44DD-7A84-7908-4C58DCEDF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9529" y="-144661"/>
            <a:ext cx="19072329" cy="1072294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07C921A-1FF5-965A-08D6-BD9E1EA4C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1" t="6250" r="47351" b="7032"/>
          <a:stretch>
            <a:fillRect/>
          </a:stretch>
        </p:blipFill>
        <p:spPr>
          <a:xfrm>
            <a:off x="18440400" y="1828800"/>
            <a:ext cx="6682839" cy="84582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4CBBEE9-F5BF-FCE4-78E9-DB644B3F98A1}"/>
              </a:ext>
            </a:extLst>
          </p:cNvPr>
          <p:cNvSpPr/>
          <p:nvPr/>
        </p:nvSpPr>
        <p:spPr>
          <a:xfrm>
            <a:off x="-479529" y="-144661"/>
            <a:ext cx="18919929" cy="10722949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00EDF693-8520-1414-CC5D-C3D32516485C}"/>
              </a:ext>
            </a:extLst>
          </p:cNvPr>
          <p:cNvSpPr txBox="1"/>
          <p:nvPr/>
        </p:nvSpPr>
        <p:spPr>
          <a:xfrm>
            <a:off x="3200400" y="3467100"/>
            <a:ext cx="10972800" cy="2658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91"/>
              </a:lnSpc>
            </a:pPr>
            <a:r>
              <a:rPr lang="en-US" sz="7200" spc="-717" dirty="0">
                <a:solidFill>
                  <a:srgbClr val="0F1F3D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You can find more details and insights in the Dashboard </a:t>
            </a:r>
            <a:r>
              <a:rPr lang="en-US" sz="72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US" sz="7200" spc="-717" dirty="0">
              <a:solidFill>
                <a:srgbClr val="1E6EF5"/>
              </a:solidFill>
              <a:latin typeface="Bahnschrift SemiBold SemiConden" panose="020B0502040204020203" pitchFamily="34" charset="0"/>
              <a:ea typeface="Bricolage Grotesque"/>
              <a:cs typeface="Bricolage Grotesque"/>
              <a:sym typeface="Bricolage Grotesque"/>
            </a:endParaRPr>
          </a:p>
        </p:txBody>
      </p:sp>
    </p:spTree>
    <p:extLst>
      <p:ext uri="{BB962C8B-B14F-4D97-AF65-F5344CB8AC3E}">
        <p14:creationId xmlns:p14="http://schemas.microsoft.com/office/powerpoint/2010/main" val="2830123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8084A-D055-35BB-0BF4-5531C6500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18">
            <a:extLst>
              <a:ext uri="{FF2B5EF4-FFF2-40B4-BE49-F238E27FC236}">
                <a16:creationId xmlns:a16="http://schemas.microsoft.com/office/drawing/2014/main" id="{16768587-CD1D-34D2-16DD-3731779FACEE}"/>
              </a:ext>
            </a:extLst>
          </p:cNvPr>
          <p:cNvSpPr txBox="1"/>
          <p:nvPr/>
        </p:nvSpPr>
        <p:spPr>
          <a:xfrm>
            <a:off x="757124" y="4365847"/>
            <a:ext cx="10972800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91"/>
              </a:lnSpc>
            </a:pPr>
            <a:r>
              <a:rPr lang="en-US" sz="12000" spc="-717" dirty="0">
                <a:solidFill>
                  <a:srgbClr val="1E6EF5"/>
                </a:solidFill>
                <a:latin typeface="Bahnschrift SemiBold SemiConden" panose="020B0502040204020203" pitchFamily="34" charset="0"/>
                <a:ea typeface="Bricolage Grotesque"/>
                <a:cs typeface="Bricolage Grotesque"/>
                <a:sym typeface="Bricolage Grotesque"/>
              </a:rPr>
              <a:t>Thank You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F953D858-1DD2-7278-0D2C-45E4A5F59617}"/>
              </a:ext>
            </a:extLst>
          </p:cNvPr>
          <p:cNvGrpSpPr/>
          <p:nvPr/>
        </p:nvGrpSpPr>
        <p:grpSpPr>
          <a:xfrm>
            <a:off x="-2057400" y="0"/>
            <a:ext cx="1752600" cy="10287000"/>
            <a:chOff x="0" y="0"/>
            <a:chExt cx="636282" cy="2709333"/>
          </a:xfrm>
          <a:solidFill>
            <a:srgbClr val="0F1F3D"/>
          </a:solidFill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7F20A89E-1398-517C-D0E7-A73D31A7D87B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7300460D-2CFC-51CD-C754-8F3F92ECF6E2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2">
            <a:extLst>
              <a:ext uri="{FF2B5EF4-FFF2-40B4-BE49-F238E27FC236}">
                <a16:creationId xmlns:a16="http://schemas.microsoft.com/office/drawing/2014/main" id="{4C0C6FDF-5C66-7895-DEE9-A3F89832CE1A}"/>
              </a:ext>
            </a:extLst>
          </p:cNvPr>
          <p:cNvGrpSpPr/>
          <p:nvPr/>
        </p:nvGrpSpPr>
        <p:grpSpPr>
          <a:xfrm>
            <a:off x="-2068485" y="460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42" name="Freeform 3">
              <a:extLst>
                <a:ext uri="{FF2B5EF4-FFF2-40B4-BE49-F238E27FC236}">
                  <a16:creationId xmlns:a16="http://schemas.microsoft.com/office/drawing/2014/main" id="{D52C2138-5F68-C137-0C5B-3A88C1307D6F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TextBox 4">
              <a:extLst>
                <a:ext uri="{FF2B5EF4-FFF2-40B4-BE49-F238E27FC236}">
                  <a16:creationId xmlns:a16="http://schemas.microsoft.com/office/drawing/2014/main" id="{9C663B90-9AC5-A2C2-74BF-0F40151D3DC7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A304FB6-CE0A-E216-9D98-8BF4478A72C5}"/>
              </a:ext>
            </a:extLst>
          </p:cNvPr>
          <p:cNvGrpSpPr/>
          <p:nvPr/>
        </p:nvGrpSpPr>
        <p:grpSpPr>
          <a:xfrm>
            <a:off x="-1927867" y="-4181719"/>
            <a:ext cx="1471364" cy="7710745"/>
            <a:chOff x="125277" y="2117664"/>
            <a:chExt cx="1471364" cy="771074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E4D304B-BB16-3B7D-D77B-ED9312CA9E89}"/>
                </a:ext>
              </a:extLst>
            </p:cNvPr>
            <p:cNvGrpSpPr/>
            <p:nvPr/>
          </p:nvGrpSpPr>
          <p:grpSpPr>
            <a:xfrm>
              <a:off x="125277" y="2117664"/>
              <a:ext cx="1398002" cy="1083875"/>
              <a:chOff x="195620" y="2116313"/>
              <a:chExt cx="1398002" cy="1083875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F52AD3B-3DF0-0469-C231-7671A62DE3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CDF2C9-2795-0270-2911-198FC0E16DE2}"/>
                  </a:ext>
                </a:extLst>
              </p:cNvPr>
              <p:cNvSpPr txBox="1"/>
              <p:nvPr/>
            </p:nvSpPr>
            <p:spPr>
              <a:xfrm>
                <a:off x="195620" y="2769301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Overview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15AB87C-AAA3-A636-DB30-1CB43BCA52C6}"/>
                </a:ext>
              </a:extLst>
            </p:cNvPr>
            <p:cNvGrpSpPr/>
            <p:nvPr/>
          </p:nvGrpSpPr>
          <p:grpSpPr>
            <a:xfrm>
              <a:off x="198639" y="3666299"/>
              <a:ext cx="1398002" cy="1126509"/>
              <a:chOff x="219746" y="2116313"/>
              <a:chExt cx="1398002" cy="112650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B698169-1213-1A95-A3AB-9D8F37D1B6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DDBA7D-9DA9-4DA3-9924-6DC5BE2753D5}"/>
                  </a:ext>
                </a:extLst>
              </p:cNvPr>
              <p:cNvSpPr txBox="1"/>
              <p:nvPr/>
            </p:nvSpPr>
            <p:spPr>
              <a:xfrm>
                <a:off x="219746" y="2811935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Product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71879CC-FCF0-2D4E-FC0F-E6F0FBDE1DD3}"/>
                </a:ext>
              </a:extLst>
            </p:cNvPr>
            <p:cNvGrpSpPr/>
            <p:nvPr/>
          </p:nvGrpSpPr>
          <p:grpSpPr>
            <a:xfrm>
              <a:off x="139702" y="5218173"/>
              <a:ext cx="1398002" cy="1227721"/>
              <a:chOff x="189659" y="2116313"/>
              <a:chExt cx="1398002" cy="1227721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FECEE0D-B726-A341-D0B6-57B883126A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83429AB-E3B7-0AB7-1B58-776C5110FA53}"/>
                  </a:ext>
                </a:extLst>
              </p:cNvPr>
              <p:cNvSpPr txBox="1"/>
              <p:nvPr/>
            </p:nvSpPr>
            <p:spPr>
              <a:xfrm>
                <a:off x="189659" y="2913147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Operator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11A8DD5-7521-30F3-0855-36EFA210C902}"/>
                </a:ext>
              </a:extLst>
            </p:cNvPr>
            <p:cNvGrpSpPr/>
            <p:nvPr/>
          </p:nvGrpSpPr>
          <p:grpSpPr>
            <a:xfrm>
              <a:off x="157451" y="7014783"/>
              <a:ext cx="1398002" cy="1251214"/>
              <a:chOff x="175234" y="2116313"/>
              <a:chExt cx="1398002" cy="125121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F0325BB-5944-B217-9C45-56736F3305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AF877B-7BD6-D52B-4D56-FE5121707638}"/>
                  </a:ext>
                </a:extLst>
              </p:cNvPr>
              <p:cNvSpPr txBox="1"/>
              <p:nvPr/>
            </p:nvSpPr>
            <p:spPr>
              <a:xfrm>
                <a:off x="175234" y="293664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Factors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56A0F16-DED9-C3EB-7A5A-BF98506D655F}"/>
                </a:ext>
              </a:extLst>
            </p:cNvPr>
            <p:cNvGrpSpPr/>
            <p:nvPr/>
          </p:nvGrpSpPr>
          <p:grpSpPr>
            <a:xfrm>
              <a:off x="198639" y="8598465"/>
              <a:ext cx="1398002" cy="1229944"/>
              <a:chOff x="195620" y="2116313"/>
              <a:chExt cx="1398002" cy="122994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B6FB902-FE28-80F2-9AD8-319A382EC4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39918" y="2116313"/>
                <a:ext cx="738256" cy="738256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0E58B9-2F59-AF4B-3CE2-B65DFB83ACD8}"/>
                  </a:ext>
                </a:extLst>
              </p:cNvPr>
              <p:cNvSpPr txBox="1"/>
              <p:nvPr/>
            </p:nvSpPr>
            <p:spPr>
              <a:xfrm>
                <a:off x="195620" y="2915370"/>
                <a:ext cx="13980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b="1" dirty="0">
                    <a:solidFill>
                      <a:srgbClr val="666666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Solutions</a:t>
                </a:r>
              </a:p>
            </p:txBody>
          </p:sp>
        </p:grpSp>
      </p:grpSp>
      <p:grpSp>
        <p:nvGrpSpPr>
          <p:cNvPr id="19" name="Group 2">
            <a:extLst>
              <a:ext uri="{FF2B5EF4-FFF2-40B4-BE49-F238E27FC236}">
                <a16:creationId xmlns:a16="http://schemas.microsoft.com/office/drawing/2014/main" id="{EC7A97C1-17C6-E405-306E-87B2EBC94318}"/>
              </a:ext>
            </a:extLst>
          </p:cNvPr>
          <p:cNvGrpSpPr/>
          <p:nvPr/>
        </p:nvGrpSpPr>
        <p:grpSpPr>
          <a:xfrm>
            <a:off x="-1916085" y="198406"/>
            <a:ext cx="1752600" cy="1739190"/>
            <a:chOff x="0" y="0"/>
            <a:chExt cx="636282" cy="2709333"/>
          </a:xfrm>
          <a:solidFill>
            <a:srgbClr val="0F1F3D"/>
          </a:solidFill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18B88806-4A8C-059C-1181-87D676F06749}"/>
                </a:ext>
              </a:extLst>
            </p:cNvPr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TextBox 4">
              <a:extLst>
                <a:ext uri="{FF2B5EF4-FFF2-40B4-BE49-F238E27FC236}">
                  <a16:creationId xmlns:a16="http://schemas.microsoft.com/office/drawing/2014/main" id="{4C0B3A28-900E-AFAE-D286-22E7323D44F4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D653FE92-6EAF-7DE8-A2E2-0F74F8F1080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5342" y="621207"/>
            <a:ext cx="588787" cy="588787"/>
          </a:xfrm>
          <a:prstGeom prst="rect">
            <a:avLst/>
          </a:prstGeom>
          <a:noFill/>
        </p:spPr>
      </p:pic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49E929E-5B35-35FD-BA31-5E5266A14793}"/>
              </a:ext>
            </a:extLst>
          </p:cNvPr>
          <p:cNvSpPr/>
          <p:nvPr/>
        </p:nvSpPr>
        <p:spPr>
          <a:xfrm rot="1792060">
            <a:off x="1630791" y="2081569"/>
            <a:ext cx="1060704" cy="9144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EE2D333-51C9-0BB8-41BC-B067D5AB4D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4407" y="3075318"/>
            <a:ext cx="4877481" cy="487748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D3C5C65-32B9-59A9-8427-30EEFDE25C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8" r="10221"/>
          <a:stretch>
            <a:fillRect/>
          </a:stretch>
        </p:blipFill>
        <p:spPr>
          <a:xfrm>
            <a:off x="9638310" y="1966614"/>
            <a:ext cx="9067800" cy="855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507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</TotalTime>
  <Words>886</Words>
  <Application>Microsoft Office PowerPoint</Application>
  <PresentationFormat>Custom</PresentationFormat>
  <Paragraphs>225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Cambria</vt:lpstr>
      <vt:lpstr>Bahnschrift SemiBold SemiConden</vt:lpstr>
      <vt:lpstr>Arial</vt:lpstr>
      <vt:lpstr>Calibri</vt:lpstr>
      <vt:lpstr>Nirmala UI</vt:lpstr>
      <vt:lpstr>Bahnschrift Light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Data Analytics Presentation</dc:title>
  <dc:creator>Menna Aziz</dc:creator>
  <cp:lastModifiedBy>Menna Aziz</cp:lastModifiedBy>
  <cp:revision>41</cp:revision>
  <dcterms:created xsi:type="dcterms:W3CDTF">2006-08-16T00:00:00Z</dcterms:created>
  <dcterms:modified xsi:type="dcterms:W3CDTF">2026-05-19T04:06:12Z</dcterms:modified>
  <dc:identifier>DAHJV1YIYCU</dc:identifier>
</cp:coreProperties>
</file>